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카페 수 (개)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&quot;개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 (1차년)</c:v>
                  </c:pt>
                  <c:pt idx="1">
                    <c:v>2027 (2차년)</c:v>
                  </c:pt>
                  <c:pt idx="2">
                    <c:v>2028 (3차년)</c:v>
                  </c:pt>
                  <c:pt idx="3">
                    <c:v>2029 (4차년)</c:v>
                  </c:pt>
                  <c:pt idx="4">
                    <c:v>2030 (5차년)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2000</c:v>
                </c:pt>
                <c:pt idx="2">
                  <c:v>5000</c:v>
                </c:pt>
                <c:pt idx="3">
                  <c:v>10000</c:v>
                </c:pt>
                <c:pt idx="4">
                  <c:v>20000</c:v>
                </c:pt>
              </c:numCache>
            </c:numRef>
          </c:val>
        </c:ser>
        <c:dLbls>
          <c:numFmt formatCode="#,##0&quot;개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자금사용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47857"/>
              </a:solidFill>
              <a:effectLst/>
            </c:spPr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bubble3D val="0"/>
            <c:spPr>
              <a:solidFill>
                <a:srgbClr val="34D399"/>
              </a:solidFill>
              <a:effectLst/>
            </c:spPr>
          </c:dPt>
          <c:dPt>
            <c:idx val="3"/>
            <c:bubble3D val="0"/>
            <c:spPr>
              <a:solidFill>
                <a:srgbClr val="6EE7B7"/>
              </a:solidFill>
              <a:effectLst/>
            </c:spPr>
          </c:dPt>
          <c:dPt>
            <c:idx val="4"/>
            <c:bubble3D val="0"/>
            <c:spPr>
              <a:solidFill>
                <a:srgbClr val="A7F3D0"/>
              </a:solidFill>
              <a:effectLst/>
            </c:spPr>
          </c:dPt>
          <c:dPt>
            <c:idx val="5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건조 설비 (소형)</c:v>
                </c:pt>
                <c:pt idx="1">
                  <c:v>인력 채용</c:v>
                </c:pt>
                <c:pt idx="2">
                  <c:v>수거 차량</c:v>
                </c:pt>
                <c:pt idx="3">
                  <c:v>앱 개발·서버</c:v>
                </c:pt>
                <c:pt idx="4">
                  <c:v>영업·마케팅</c:v>
                </c:pt>
                <c:pt idx="5">
                  <c:v>예비비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24</c:v>
                </c:pt>
                <c:pt idx="1">
                  <c:v>24</c:v>
                </c:pt>
                <c:pt idx="2">
                  <c:v>18</c:v>
                </c:pt>
                <c:pt idx="3">
                  <c:v>16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8872"/>
            <a:ext cx="164592" cy="673912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1371600"/>
            <a:ext cx="914400" cy="914400"/>
          </a:xfrm>
          <a:prstGeom prst="ellipse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6002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커피 소비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623560" y="1371600"/>
            <a:ext cx="914400" cy="914400"/>
          </a:xfrm>
          <a:prstGeom prst="ellipse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002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자원 순환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67512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7223760" y="1371600"/>
            <a:ext cx="914400" cy="914400"/>
          </a:xfrm>
          <a:prstGeom prst="ellipse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00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2331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청정 에너지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3108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 찌꺼기, </a:t>
            </a:r>
            <a:pPr algn="ctr"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에너지</a:t>
            </a:r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다시 태어나다</a:t>
            </a:r>
            <a:endParaRPr lang="en-US" sz="4200" dirty="0"/>
          </a:p>
        </p:txBody>
      </p:sp>
      <p:sp>
        <p:nvSpPr>
          <p:cNvPr id="16" name="Shape 11"/>
          <p:cNvSpPr/>
          <p:nvPr/>
        </p:nvSpPr>
        <p:spPr>
          <a:xfrm>
            <a:off x="5852160" y="4160520"/>
            <a:ext cx="548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48640" y="43434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B5563"/>
                </a:solidFill>
              </a:rPr>
              <a:t>커피박 자원화 플랫폼 (커피로) 사업계획서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0" y="5852160"/>
            <a:ext cx="12161520" cy="100584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608076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32120" y="60990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스마트에코시스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553212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Smart EcoSys Inc.   | 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0B981"/>
                </a:solidFill>
              </a:rPr>
              <a:t>Table of Contents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2937"/>
                </a:solidFill>
              </a:rPr>
              <a:t>목차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스마트에코시스의 지속가능한 비전과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구체적인 실행 계획을 소개합니다.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9144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914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8660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개요 및 배경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문제 정의, 솔루션, 시장 기회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914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0412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소개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0412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매스밸런스, 커피로 앱, O2O 플랫폼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27432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866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소개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제품군 다각화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27432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10412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현황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0412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시장 규모, 경쟁사 분석, 포지셔닝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45720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1E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D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8660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계획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5개년 재무 추정, 수익성 분석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0" y="4572000"/>
            <a:ext cx="777240" cy="7772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47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0" y="4572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7857"/>
                </a:solidFill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104120" y="4617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제안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0412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자금 사용 계획, 투자 조건, 비전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 / 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사업 개요 및 배경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</a:t>
            </a:r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40만 톤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버려지는 커피박의 현실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폭증하는 한국 커피 소비 vs 미진한 재활용 인프라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2697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7627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286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5E7EB"/>
                </a:solidFill>
              </a:rPr>
              <a:t>01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395728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커피 소비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세계 3위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7724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1인당 연간 405잔 소비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(세계 평균의 2.7배)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474720" y="2103120"/>
            <a:ext cx="26974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74720" y="217627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57800" y="2286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5E7EB"/>
                </a:solidFill>
              </a:rPr>
              <a:t>02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3703320" y="2331720"/>
            <a:ext cx="502920" cy="50292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395728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0332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발생량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70332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400,000톤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370332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매년 40만 톤의 커피찌꺼기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생활폐기물로 배출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400800" y="2103120"/>
            <a:ext cx="26974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00800" y="217627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183880" y="2286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5E7EB"/>
                </a:solidFill>
              </a:rPr>
              <a:t>03</a:t>
            </a:r>
            <a:endParaRPr lang="en-US" sz="2400" dirty="0"/>
          </a:p>
        </p:txBody>
      </p:sp>
      <p:sp>
        <p:nvSpPr>
          <p:cNvPr id="27" name="Shape 23"/>
          <p:cNvSpPr/>
          <p:nvPr/>
        </p:nvSpPr>
        <p:spPr>
          <a:xfrm>
            <a:off x="6629400" y="2331720"/>
            <a:ext cx="502920" cy="50292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395728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62940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처리 방식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62940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 소각·매립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662940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재활용률 10% 미만,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심각한 탄소 배출원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9326880" y="210312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326880" y="2176272"/>
            <a:ext cx="26974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1109960" y="22860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5E7EB"/>
                </a:solidFill>
              </a:rPr>
              <a:t>04</a:t>
            </a:r>
            <a:endParaRPr lang="en-US" sz="2400" dirty="0"/>
          </a:p>
        </p:txBody>
      </p:sp>
      <p:sp>
        <p:nvSpPr>
          <p:cNvPr id="35" name="Shape 30"/>
          <p:cNvSpPr/>
          <p:nvPr/>
        </p:nvSpPr>
        <p:spPr>
          <a:xfrm>
            <a:off x="9555480" y="2331720"/>
            <a:ext cx="502920" cy="50292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88" y="2395728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55548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 폐기 부담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955548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5~15만원</a:t>
            </a:r>
            <a:endParaRPr lang="en-US" sz="2200" dirty="0"/>
          </a:p>
        </p:txBody>
      </p:sp>
      <p:sp>
        <p:nvSpPr>
          <p:cNvPr id="39" name="Text 33"/>
          <p:cNvSpPr/>
          <p:nvPr/>
        </p:nvSpPr>
        <p:spPr>
          <a:xfrm>
            <a:off x="9555480" y="38404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종량제 봉투 구매 비용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악취/보관 문제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리스크: 지금 당장 해결해야 할 3가지 위협</a:t>
            </a:r>
            <a:endParaRPr lang="en-US" sz="1400" dirty="0"/>
          </a:p>
        </p:txBody>
      </p:sp>
      <p:sp>
        <p:nvSpPr>
          <p:cNvPr id="42" name="Shape 36"/>
          <p:cNvSpPr/>
          <p:nvPr/>
        </p:nvSpPr>
        <p:spPr>
          <a:xfrm>
            <a:off x="777240" y="5532120"/>
            <a:ext cx="3520440" cy="777240"/>
          </a:xfrm>
          <a:prstGeom prst="rect">
            <a:avLst/>
          </a:prstGeom>
          <a:solidFill>
            <a:srgbClr val="1A2B4D"/>
          </a:solidFill>
          <a:ln w="9525">
            <a:solidFill>
              <a:srgbClr val="DC2626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733288"/>
            <a:ext cx="384048" cy="38404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1463040" y="56509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매립 시 메탄(CH₄) 발생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4297680" y="573328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4526280" y="5532120"/>
            <a:ext cx="3520440" cy="777240"/>
          </a:xfrm>
          <a:prstGeom prst="rect">
            <a:avLst/>
          </a:prstGeom>
          <a:solidFill>
            <a:srgbClr val="1A2B4D"/>
          </a:solidFill>
          <a:ln w="9525">
            <a:solidFill>
              <a:srgbClr val="DC2626"/>
            </a:solidFill>
            <a:prstDash val="solid"/>
          </a:ln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5733288"/>
            <a:ext cx="384048" cy="38404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212080" y="56509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온실가스 악화 (CO₂의 34배)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8046720" y="573328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Shape 42"/>
          <p:cNvSpPr/>
          <p:nvPr/>
        </p:nvSpPr>
        <p:spPr>
          <a:xfrm>
            <a:off x="8275320" y="5532120"/>
            <a:ext cx="3520440" cy="777240"/>
          </a:xfrm>
          <a:prstGeom prst="rect">
            <a:avLst/>
          </a:prstGeom>
          <a:solidFill>
            <a:srgbClr val="1A2B4D"/>
          </a:solidFill>
          <a:ln w="9525">
            <a:solidFill>
              <a:srgbClr val="DC2626"/>
            </a:solidFill>
            <a:prstDash val="solid"/>
          </a:ln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0" y="5733288"/>
            <a:ext cx="384048" cy="384048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8961120" y="56509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ESG 규제 강화 (비용 상승)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3 / 23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사업 개요 및 배경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커피로 (Coffee L.O.) — 수거부터 판매까지 벨류체인 플랫폼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수거 → 운송 → 가공 → 판매를 잇는 통합 자원순환 생태계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94560"/>
            <a:ext cx="2212848" cy="7315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67712"/>
            <a:ext cx="2212848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468880"/>
            <a:ext cx="411480" cy="41148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7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52144" y="3108960"/>
            <a:ext cx="1005840" cy="100584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3291840"/>
            <a:ext cx="640080" cy="6400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42976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" y="480060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커피박 발생 &amp; 분리 배출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807208" y="2194560"/>
            <a:ext cx="221284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07208" y="2267712"/>
            <a:ext cx="2212848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90088" y="246888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90088" y="247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410712" y="3108960"/>
            <a:ext cx="1005840" cy="100584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3291840"/>
            <a:ext cx="640080" cy="640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807208" y="42976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수거요청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2990088" y="480060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원터치 수거 신청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스케줄링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65776" y="2194560"/>
            <a:ext cx="221284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65776" y="2267712"/>
            <a:ext cx="2212848" cy="3584448"/>
          </a:xfrm>
          <a:prstGeom prst="rect">
            <a:avLst/>
          </a:prstGeom>
          <a:solidFill>
            <a:srgbClr val="ECFDF5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248656" y="246888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248656" y="247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669280" y="3108960"/>
            <a:ext cx="1005840" cy="100584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291840"/>
            <a:ext cx="640080" cy="6400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065776" y="42976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최적 수거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5248656" y="480060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경로 최적화로 물류비 절감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324344" y="2194560"/>
            <a:ext cx="2212848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324344" y="2267712"/>
            <a:ext cx="2212848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507224" y="2468880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507224" y="247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Shape 31"/>
          <p:cNvSpPr/>
          <p:nvPr/>
        </p:nvSpPr>
        <p:spPr>
          <a:xfrm>
            <a:off x="7927848" y="3108960"/>
            <a:ext cx="1005840" cy="100584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3291840"/>
            <a:ext cx="640080" cy="64008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324344" y="42976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건조·연료화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7507224" y="480060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고품질 연료탄 제조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(4,800 kcal)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9582912" y="2194560"/>
            <a:ext cx="2212848" cy="73152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9582912" y="2267712"/>
            <a:ext cx="2212848" cy="3584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9765792" y="2468880"/>
            <a:ext cx="411480" cy="41148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9765792" y="247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Shape 38"/>
          <p:cNvSpPr/>
          <p:nvPr/>
        </p:nvSpPr>
        <p:spPr>
          <a:xfrm>
            <a:off x="10186416" y="3108960"/>
            <a:ext cx="1005840" cy="100584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3291840"/>
            <a:ext cx="640080" cy="64008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9582912" y="42976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발전소 판매</a:t>
            </a:r>
            <a:endParaRPr lang="en-US" sz="1600" dirty="0"/>
          </a:p>
        </p:txBody>
      </p:sp>
      <p:sp>
        <p:nvSpPr>
          <p:cNvPr id="47" name="Text 40"/>
          <p:cNvSpPr/>
          <p:nvPr/>
        </p:nvSpPr>
        <p:spPr>
          <a:xfrm>
            <a:off x="9765792" y="480060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바이오매스 발전소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공급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2596896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</a:rPr>
              <a:t>›</a:t>
            </a:r>
            <a:endParaRPr lang="en-US" sz="2200" dirty="0"/>
          </a:p>
        </p:txBody>
      </p:sp>
      <p:sp>
        <p:nvSpPr>
          <p:cNvPr id="49" name="Text 42"/>
          <p:cNvSpPr/>
          <p:nvPr/>
        </p:nvSpPr>
        <p:spPr>
          <a:xfrm>
            <a:off x="4855464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</a:rPr>
              <a:t>›</a:t>
            </a:r>
            <a:endParaRPr lang="en-US" sz="2200" dirty="0"/>
          </a:p>
        </p:txBody>
      </p:sp>
      <p:sp>
        <p:nvSpPr>
          <p:cNvPr id="50" name="Text 43"/>
          <p:cNvSpPr/>
          <p:nvPr/>
        </p:nvSpPr>
        <p:spPr>
          <a:xfrm>
            <a:off x="711403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</a:rPr>
              <a:t>›</a:t>
            </a:r>
            <a:endParaRPr lang="en-US" sz="2200" dirty="0"/>
          </a:p>
        </p:txBody>
      </p:sp>
      <p:sp>
        <p:nvSpPr>
          <p:cNvPr id="51" name="Text 44"/>
          <p:cNvSpPr/>
          <p:nvPr/>
        </p:nvSpPr>
        <p:spPr>
          <a:xfrm>
            <a:off x="937260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</a:rPr>
              <a:t>›</a:t>
            </a:r>
            <a:endParaRPr lang="en-US" sz="2200" dirty="0"/>
          </a:p>
        </p:txBody>
      </p:sp>
      <p:sp>
        <p:nvSpPr>
          <p:cNvPr id="52" name="Shape 45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6144768"/>
            <a:ext cx="329184" cy="329184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1234440" y="6126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통합 밸류체인 구축으로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수거 물류비 30%+ 절감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및 카페-발전소 직접 연결로 마진 극대화</a:t>
            </a:r>
            <a:endParaRPr lang="en-US" sz="1200" dirty="0"/>
          </a:p>
        </p:txBody>
      </p:sp>
      <p:sp>
        <p:nvSpPr>
          <p:cNvPr id="55" name="Text 4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4 / 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사업 개요 및 배경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소개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지속가능한 자원순환과 디지털 기술의 결합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11064240" cy="43708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48840"/>
            <a:ext cx="237744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5000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231343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회사명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54680" y="219456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스마트에코시스 (Smart EcoSys Inc.)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862072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862072"/>
            <a:ext cx="237744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6324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302666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설립연월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154680" y="290779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1월 (법인 설립 완료)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575304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3575304"/>
            <a:ext cx="237744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7647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373989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사업분야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154680" y="3621024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커피박 자원화  |  바이오매스 연료 제조  |  O2O 플랫폼 서비스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" y="4288536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8640" y="4288536"/>
            <a:ext cx="237744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89704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88720" y="44531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플랫폼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3154680" y="4334256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커피로 (Coffee L.O.)  —  Flutter iOS / Android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5001768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48640" y="5001768"/>
            <a:ext cx="237744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02936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88720" y="5166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모델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154680" y="504748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연료탄 판매  ·  앱 구독료(월 1만원)  ·  O2O 주문 중개 수수료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548640" y="5715000"/>
            <a:ext cx="110642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48640" y="5715000"/>
            <a:ext cx="2377440" cy="713232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916168"/>
            <a:ext cx="310896" cy="31089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188720" y="5879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지식재산권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3154680" y="576072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슬러지 연료화 처리 시스템 (제 10-2069317호)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슬러지 연료화 처리 시스템의 건조공기 공급장치 (제 10-2069308호)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5 / 23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기술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스마트에코시스 바이오 고형연료제품 (BIO-SRF)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법령 품질 기준 충족 및 프리미엄 등급 자체 기준 확보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solidFill>
            <a:srgbClr val="FFF7ED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21408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고형연료제품 (SRF) 품질 기준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783080"/>
                <a:gridCol w="1508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비성형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모양·크기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직경 50 / 길이 100↓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가로·세로 50↓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발열량 (저위)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kcal/kg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3,500 이상 (제조)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수분 함유량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wt.%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수은 (Hg)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mg/kg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카드뮴 (Cd)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mg/kg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 (Pb)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mg/kg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비소 (As)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mg/kg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회분 함유량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wt.%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염소 함유량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wt.%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황분 함유량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wt.%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0.6↓ (폐타이어 2.0↓)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309360" y="2011680"/>
            <a:ext cx="548640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2140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바이오 고형연료제품 (BIO-SRF) 품질 기준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468880"/>
          <a:ext cx="54864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1783080"/>
                <a:gridCol w="15087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비성형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발열량 (저위)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kcal/kg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 이상 (제조)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수분 함유량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wt.%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수은 (Hg)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mg/kg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납 (Pb)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mg/kg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비소 (As)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mg/kg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크롬 (Cr)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mg/kg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70.0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회분 함유량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wt.%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염소 함유량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wt.%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 이하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바이오매스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wt.%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 이상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 이상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6 / 23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기술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건조 기술 방식별 상세 비교 및 경쟁력 분석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고온건조 vs 저온건조 vs 스마트에코시스 저온열풍기류건조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88920"/>
                <a:gridCol w="2788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고온건조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저온건조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저온열풍기류건조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건조 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짧음 (화재 위험)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장시간 소요 (24h↑)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획기적 단축 (1h)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용량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대량 가능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대량 처리 어려움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대량 처리 (다단구조)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함수율 (품질)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낮음 (과건조 우려)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 (20% 이상)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 함수율 (10%↓)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건조 온도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저온 열풍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에너지 효율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낮음 (연료비 과다)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 (열순환 방식)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응축수 발생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다량 (폐수처리 필요)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거의 없음 (Zero화)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악취 문제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심각 (민원 발생)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 (밀폐 순환)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 영향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대기오염 물질 다량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친환경 (오염 최소화)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유지보수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 높음 (화재 등)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용이함 (모듈형)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연속식 (단일 구조)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다단(Multiple) 배치식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안정성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화재 위험 상존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매우 안전 (저온)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solidFill>
            <a:srgbClr val="ECFDF5"/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3367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62910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스마트에코시스 저온열풍기류건조: 모든 비교 항목에서 압도적 우위 — 짧은 건조 시간, 친환경, 운영 안정성 동시 확보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7 / 23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기술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경쟁사별 기술 및 설비 상세 비교 (7개사)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환경성·운영 온도·건조 방식의 종합 비교 — 자사 기술 압도적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9164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스마트에코시스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건조 방식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열풍기류건조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직접열풍건조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직접가열탄화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간접가열건조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간접가열건조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스팀 분사 건조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전열판 간접 건조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구조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저온열풍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다단 수직구조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로터리킬른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건조기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건조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탄화설비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패들건조기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디스크 건조기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과열증기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건조기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증발건조기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공법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저온열풍건조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SAFE 공법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탄화공법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열풍 건조공법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스팀건조공법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과열증기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건조공법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진공유중건조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가동 온도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 ~ 95℃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 ~ 850℃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750℃ 이상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350℃ 이상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 ~ 180℃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 ~ 600℃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 ~ 300℃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환경성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(악취/유해물질)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저온열풍건조로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유해물질/악취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발생 없음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고온건조로 인한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유해물질 다량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고온건조로 인한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유해물질 다량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고온건조로 인한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유해물질 다량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고온건조로 인한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유해물질 다량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고온 스팀건조 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유해폐수 다량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유중건조 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유폐수 다량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8 / 23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기술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스마트에코시스 저온 열풍기류건조 시스템 구조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커피찌꺼기 → 펠릿 성형 → 저온 건조 → 고형연료 4단계 공정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80467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9" name="Image 0" descr="C:\SMARTECOSYS\pptx_build\source_images\slide9_pic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148840"/>
            <a:ext cx="7772400" cy="4297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823960" y="2011680"/>
            <a:ext cx="278892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23960" y="2011680"/>
            <a:ext cx="73152" cy="10698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006840" y="217627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06840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509760" y="217627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혼합 단계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509760" y="2514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커피찌꺼기 + 부재료 혼합 (함수율 70~80%)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823960" y="3172968"/>
            <a:ext cx="278892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823960" y="3172968"/>
            <a:ext cx="73152" cy="10698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06840" y="3337560"/>
            <a:ext cx="384048" cy="384048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0684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509760" y="33375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펠릿 성형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509760" y="3675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혼합 원료 압축 성형 (함수율 약 50%)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823960" y="4334256"/>
            <a:ext cx="278892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23960" y="4334256"/>
            <a:ext cx="73152" cy="10698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006840" y="449884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00684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509760" y="4498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저온 열풍 건조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509760" y="483717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함수율 50% → 15~20%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823960" y="5495544"/>
            <a:ext cx="278892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823960" y="5495544"/>
            <a:ext cx="73152" cy="10698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06840" y="5660136"/>
            <a:ext cx="384048" cy="38404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006840" y="5669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509760" y="566013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연료 완성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509760" y="599846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고형 연료탄 (최종 10% 이하)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48640" y="6675120"/>
            <a:ext cx="110642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9 / 23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기술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스마트에코시스 저온 열풍기류건조 — 현장사진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가동 중인 자체 건조 설비 — 안정적 운영 검증 완료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057400"/>
            <a:ext cx="54864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9" name="Image 0" descr="C:\SMARTECOSYS\pptx_build\source_images\slide10_pic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148840"/>
            <a:ext cx="5394960" cy="40233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09360" y="2057400"/>
            <a:ext cx="54864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1" name="Image 1" descr="C:\SMARTECOSYS\pptx_build\source_images\slide10_pic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2148840"/>
            <a:ext cx="5394960" cy="4023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6355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저온열풍 다단 수직 설비 #1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55080" y="6355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5563"/>
                </a:solidFill>
              </a:rPr>
              <a:t>저온열풍 다단 수직 설비 #2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10 / 23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기술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수거 협력사 / 사회적협동조합 자원과 순환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500여 카페·기업 수거 네트워크 + 월 1,000톤 수거 능력 확보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57400"/>
            <a:ext cx="36576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57400"/>
            <a:ext cx="36576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331720"/>
            <a:ext cx="1097280" cy="1097280"/>
          </a:xfrm>
          <a:prstGeom prst="ellipse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60604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3520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수거 및 집하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371600" y="3931920"/>
            <a:ext cx="2011680" cy="32004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7857"/>
                </a:solidFill>
              </a:rPr>
              <a:t>자원과순환 협동조합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44348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</a:rPr>
              <a:t>•  스타벅스코리아 등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</a:rPr>
              <a:t>500곳 이상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</a:rPr>
              <a:t> 수거 계약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</a:rPr>
              <a:t>•  전국 주요 도시 집하장 네트워크 보유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</a:rPr>
              <a:t>•  각 지자체와 정식 계약 체결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B5563"/>
                </a:solidFill>
              </a:rPr>
              <a:t>•  스마트에코시스 MOU 체결 완료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" y="5989320"/>
            <a:ext cx="3200400" cy="4572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5989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월 1,000톤 수거 능력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297680" y="4023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754880" y="2057400"/>
            <a:ext cx="68580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21945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파트너사</a:t>
            </a:r>
            <a:endParaRPr lang="en-US" sz="1200" dirty="0"/>
          </a:p>
        </p:txBody>
      </p:sp>
      <p:pic>
        <p:nvPicPr>
          <p:cNvPr id="21" name="Image 1" descr="C:\SMARTECOSYS\pptx_build\source_images\slide11_pic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37760" y="2606040"/>
            <a:ext cx="6492240" cy="3840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11 / 23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기술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수거 협력사 / 사회적협동조합 자원과 순환 업무 프로세스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수거 → 이동 → 집하 → 보관 — 검증된 4단계 표준 운영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57400"/>
            <a:ext cx="2743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9" name="Image 0" descr="C:\SMARTECOSYS\pptx_build\source_images\slide12_pic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03120"/>
            <a:ext cx="2651760" cy="35661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5852160"/>
            <a:ext cx="2743200" cy="50292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5852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수거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현장에서 직접 수거 및 분리 배출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0040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451860" y="2057400"/>
            <a:ext cx="2743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7" name="Image 1" descr="C:\SMARTECOSYS\pptx_build\source_images\slide12_pic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97580" y="2103120"/>
            <a:ext cx="2651760" cy="35661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589020" y="2194560"/>
            <a:ext cx="457200" cy="45720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5890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451860" y="5852160"/>
            <a:ext cx="2743200" cy="50292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51860" y="5852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이동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345186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전용 차량으로 효율적 운송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10362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6355080" y="2057400"/>
            <a:ext cx="2743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5" name="Image 2" descr="C:\SMARTECOSYS\pptx_build\source_images\slide12_pic7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2103120"/>
            <a:ext cx="2651760" cy="356616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492240" y="2194560"/>
            <a:ext cx="457200" cy="45720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92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355080" y="5852160"/>
            <a:ext cx="2743200" cy="50292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55080" y="5852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집하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355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지역 거점에 통합 집하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9006840" y="3657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</a:rPr>
              <a:t>→</a:t>
            </a:r>
            <a:endParaRPr lang="en-US" sz="2200" dirty="0"/>
          </a:p>
        </p:txBody>
      </p:sp>
      <p:sp>
        <p:nvSpPr>
          <p:cNvPr id="32" name="Shape 27"/>
          <p:cNvSpPr/>
          <p:nvPr/>
        </p:nvSpPr>
        <p:spPr>
          <a:xfrm>
            <a:off x="9258300" y="2057400"/>
            <a:ext cx="27432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33" name="Image 3" descr="C:\SMARTECOSYS\pptx_build\source_images\slide12_pic6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04020" y="2103120"/>
            <a:ext cx="2651760" cy="356616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9395460" y="2194560"/>
            <a:ext cx="457200" cy="457200"/>
          </a:xfrm>
          <a:prstGeom prst="ellipse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3954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9258300" y="5852160"/>
            <a:ext cx="2743200" cy="50292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9258300" y="5852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보관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92583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전용 보관소에서 위생적 관리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12 / 23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사업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스마트에코시스 고형연료 제품군 확대 ① 건설 동계연료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건설현장 콘크리트 양생 열원으로 활용 — 기존 갈탄 대비 친환경 고효율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50292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73152" cy="3200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21671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건설 동계연료 판매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325880" y="25420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Construction Winter Heating Fuel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2971800"/>
            <a:ext cx="4572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1089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937"/>
                </a:solidFill>
              </a:rPr>
              <a:t>콘크리트 양생 열원 연료 공급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B5563"/>
                </a:solidFill>
              </a:rPr>
              <a:t>건설현장 동절기 콘크리트 양생을 위한 고품질 친환경 열원 연료로 신규 시장 진입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402336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0B981"/>
                </a:solidFill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B5563"/>
                </a:solidFill>
              </a:rPr>
              <a:t>발열량 4,800 kcal/kg 고품질 연료탄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0B981"/>
                </a:solidFill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B5563"/>
                </a:solidFill>
              </a:rPr>
              <a:t>기존 갈탄 대비 유해물질·악취 90% 감소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0B981"/>
                </a:solidFill>
              </a:rPr>
              <a:t>✓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B5563"/>
                </a:solidFill>
              </a:rPr>
              <a:t>동절기(11월~2월) 안정적 매출 확보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52160" y="2011680"/>
            <a:ext cx="57607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7" name="Image 1" descr="C:\SMARTECOSYS\pptx_build\source_images\slide13_pic8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0" y="2103120"/>
            <a:ext cx="5577840" cy="301752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406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40280"/>
                <a:gridCol w="2240280"/>
                <a:gridCol w="2240280"/>
                <a:gridCol w="22402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갈탄(석탄류)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우드펠릿(1급)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커피박 펠릿(제안)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고체연료(젤/캔)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발열량 (kcal/kg)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4,500~5,000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4,300~4,500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4,800~5,000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6,500~7,500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1톤당 단가 (VAT별도)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25~35만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45~55만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35~45만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180~250만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톤당 발열 효율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 (유분 포함)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매우 높음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4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13 / 23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사업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스마트에코시스 고형연료 제품군 확대 ② 반려동물 탈취제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급성장 반려동물 시장 진입 — 고양이 모래·강아지 패드 원료 공급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57400"/>
            <a:ext cx="411480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57400"/>
            <a:ext cx="73152" cy="4526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2212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반려동물 탈취제 판매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1732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Premium Pet Deodorizer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3063240"/>
            <a:ext cx="3657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2461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커피 원두의 강력한 천연 탈취력과 다공성 구조를 활용한 프리미엄 반려동물 위생 용품 원료 공급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4297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핵심 USP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" y="4663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B5563"/>
                </a:solidFill>
              </a:rPr>
              <a:t>강력한 암모니아 탈취 효과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B5563"/>
                </a:solidFill>
              </a:rPr>
              <a:t>100% 식물성·생분해 원료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B5563"/>
                </a:solidFill>
              </a:rPr>
              <a:t>버려지는 자원의 부가가치 창출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37760" y="2057400"/>
            <a:ext cx="32918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8" name="Image 1" descr="C:\SMARTECOSYS\pptx_build\source_images\slide14_pic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2148840"/>
            <a:ext cx="3108960" cy="38404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937760" y="6126480"/>
            <a:ext cx="3291840" cy="4572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37760" y="6126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강아지 패드 탈취제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458200" y="2057400"/>
            <a:ext cx="32918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22" name="Image 2" descr="C:\SMARTECOSYS\pptx_build\source_images\slide14_pic1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49640" y="2148840"/>
            <a:ext cx="3108960" cy="38404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458200" y="6126480"/>
            <a:ext cx="3291840" cy="4572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458200" y="6126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고양이 모래 탈취제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14 / 23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사업 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스마트에코시스 비즈니스 모델 확대 — O2O 주문 중개 서비스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수거 앱 → 결제 페이백 → 매출 증대 → 수거량 증가의 선순환 구조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57400"/>
            <a:ext cx="1106424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O2O 주문 중개 서비스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63040" y="2606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수거 앱을 활용하여 카페와 고객의 B2C 주문 중개 + 거래액 수수료 페이백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463040" y="29077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✓  거래액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수수료를 고객에게 페이백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        ✓  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점포매출 증대로 커피박 수거량 증가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611880"/>
            <a:ext cx="352044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3685032"/>
            <a:ext cx="3520440" cy="2670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17520" y="3840480"/>
            <a:ext cx="914400" cy="32004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1752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Hook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7240" y="3886200"/>
            <a:ext cx="502920" cy="50292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9502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77240" y="4526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 전략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77240" y="49834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"커피 1잔을 마시면 100원을 드려요"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페이백 마케팅 전략 시장 진입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0233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</a:rPr>
              <a:t>›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4434840" y="3611880"/>
            <a:ext cx="35204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434840" y="3685032"/>
            <a:ext cx="3520440" cy="2670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03720" y="3840480"/>
            <a:ext cx="91440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0372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Lock-in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663440" y="3886200"/>
            <a:ext cx="502920" cy="50292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3950208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663440" y="4526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 전략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4663440" y="49834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포인트 적립 + 페이백 마케팅 유지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이탈률 최소화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9095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</a:rPr>
              <a:t>›</a:t>
            </a:r>
            <a:endParaRPr lang="en-US" sz="2400" dirty="0"/>
          </a:p>
        </p:txBody>
      </p:sp>
      <p:sp>
        <p:nvSpPr>
          <p:cNvPr id="31" name="Shape 26"/>
          <p:cNvSpPr/>
          <p:nvPr/>
        </p:nvSpPr>
        <p:spPr>
          <a:xfrm>
            <a:off x="8321040" y="3611880"/>
            <a:ext cx="352044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321040" y="3685032"/>
            <a:ext cx="3520440" cy="2670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0789920" y="3840480"/>
            <a:ext cx="914400" cy="320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0789920" y="3840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Revenue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8549640" y="3886200"/>
            <a:ext cx="502920" cy="502920"/>
          </a:xfrm>
          <a:prstGeom prst="ellipse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3950208"/>
            <a:ext cx="365760" cy="3657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549640" y="4526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수익화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8549640" y="498348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O2O 플랫폼 수익 창출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시장점유율 증대로 수익금 증가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하이브리드 모델 완성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15 / 23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시장 현황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시장 규모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 18조 → SAM 6.8조 → SOM 1,200억 원 — 명확한 진입 경로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5486400" cy="36576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926080"/>
            <a:ext cx="3657600" cy="2468880"/>
          </a:xfrm>
          <a:prstGeom prst="ellipse">
            <a:avLst/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3566160"/>
            <a:ext cx="1828800" cy="12801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0B981"/>
                </a:solidFill>
              </a:rPr>
              <a:t>TAM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774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</a:rPr>
              <a:t>SAM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6.8조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SOM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7744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1,200억 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2057400"/>
            <a:ext cx="47548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9CA3A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28600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43800" y="2221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전체 시장 (TAM)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19556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CA3AF"/>
                </a:solidFill>
              </a:rPr>
              <a:t>18조 원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86600" y="2743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국내 커피 시장 (약 15.5조) + 바이오 에너지 시장 (약 2.4조)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58000" y="3611880"/>
            <a:ext cx="4754880" cy="1417320"/>
          </a:xfrm>
          <a:prstGeom prst="rect">
            <a:avLst/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84048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543800" y="3776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유효 시장 (SAM)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19556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6.8조 원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086600" y="4297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스마트오더 결제액 (약 6조) + 커피박 재자원화 가치 (약 8,000억)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858000" y="5166360"/>
            <a:ext cx="4754880" cy="1417320"/>
          </a:xfrm>
          <a:prstGeom prst="rect">
            <a:avLst/>
          </a:prstGeom>
          <a:solidFill>
            <a:srgbClr val="047857"/>
          </a:solidFill>
          <a:ln w="9525">
            <a:solidFill>
              <a:srgbClr val="047857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539496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543800" y="5330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수익 시장 (SOM)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10195560" y="5349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1,200억 원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7086600" y="5852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수도권 저가 커피 프렌차이즈 중심 오더 수수료 + 원료 공급 매출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16 / 23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시장 현황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국외 시장 규모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TAM 550조 → SAM 30조 → SOM 3,000억 원 — 글로벌 확장의 거대한 기회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5486400" cy="3657600"/>
          </a:xfrm>
          <a:prstGeom prst="ellipse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926080"/>
            <a:ext cx="3657600" cy="246888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3566160"/>
            <a:ext cx="1828800" cy="12801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</a:rPr>
              <a:t>TAM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550조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774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</a:rPr>
              <a:t>SAM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SOM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7744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3,000억 원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0" y="2057400"/>
            <a:ext cx="475488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9CA3AF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28600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543800" y="2221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전체 시장 (TAM)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19556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9CA3AF"/>
                </a:solidFill>
              </a:rPr>
              <a:t>550조 원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086600" y="2743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국외 커피 시장 (약 300조) + 바이오 에너지 시장 (약 250조)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58000" y="3611880"/>
            <a:ext cx="4754880" cy="141732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384048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543800" y="3776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유효 시장 (SAM)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019556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30조 원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7086600" y="42976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스마트오더 결제액 (약 13조) + 고형연료 시장 (약 17조 원)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858000" y="5166360"/>
            <a:ext cx="4754880" cy="1417320"/>
          </a:xfrm>
          <a:prstGeom prst="rect">
            <a:avLst/>
          </a:prstGeom>
          <a:solidFill>
            <a:srgbClr val="1E3A8A"/>
          </a:solidFill>
          <a:ln w="9525">
            <a:solidFill>
              <a:srgbClr val="1E3A8A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5394960"/>
            <a:ext cx="365760" cy="36576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543800" y="5330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수익 시장 (SOM)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10195560" y="5349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3,000억 원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7086600" y="5852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해외 커피 프렌차이즈 중심 오더 수수료 + 원료 공급 매출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17 / 23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매출 계획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5개년 카페 파트너 성장 로드맵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500개 → 2030년 20,000개 매장 확보 (CAGR 152%)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110642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731520" y="2194560"/>
          <a:ext cx="106984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897880"/>
            <a:ext cx="11064240" cy="77724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080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Ultimate Goal (2030)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325880" y="629107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전국 카페 10만 개 중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20% (2만 개)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파트너십 확보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18 / 23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매출 계획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5개년 매출 계획 — 1차년도 (2026)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단위: 원 (VAT 별도)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554480"/>
                <a:gridCol w="914400"/>
                <a:gridCol w="1188720"/>
                <a:gridCol w="3108960"/>
                <a:gridCol w="192024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단가 (원)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산출내역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 (천원)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발전소 연료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30톤/일 * 230,000원/톤 * 300일/년 / 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1,035,000,000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발전소 고형연료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사용료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 점포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 * 12개월 / 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자원과 순환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수수료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 점포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 * 500,000원 * 12개월 / 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수수료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1,215,000,000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커피찌꺼기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50,000/톤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(30톤/일 * 50,000원/톤 * 300일/년) / 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225,000,000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자원과 순환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외주비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100,000/톤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(30톤 * 100,000원 * 300일) / 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450,000,000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장기계약조건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운반비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20,000/톤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(30톤 * 20,000원 * 300일) / 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인건비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3명 * 4,000천원 * 10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복리후생비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인건비 5%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영업비(개발비)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매출액의 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36,450,000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수수료 9%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135,000,000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1,062,450,000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(수입)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1,215,000,000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이익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이익율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 (지출)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1,062,450,000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152,550,000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19 / 23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매출 계획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5개년 매출 계획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단위: 원 (VAT 별도) — 폭발적 매출 성장 곡선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1차년 (2026)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2차년 (2027)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3차년 (2028)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4차년 (2029)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5차년 (2030)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[운영 지표]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일일 처리량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 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1,200 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2,300 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처리량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4,500 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 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180,000 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360,000 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690,000 톤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[매출 (REVENUE)]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연료탄 판매 (230,000원/톤)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1,035,000,000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6,900,000,000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13,800,000,000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34,500,000,000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69,000,000,000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건설 동계연료 (400,000원/톤)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18,000,000,000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48,000,000,000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애완동물 모래 (600,000원/톤)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18,000,000,000원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36,000,000,000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90,000,000,000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사용료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1,200,000,000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2,400,000,000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주문 수수료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9,000,000,000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24,000,000,000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60,000,000,000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 합계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1,215,000,000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9,540,000,000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59,400,000,000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125,700,000,000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269,400,000,000 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20 / 23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매출 계획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5개년 비용 구조 및 영업이익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5차년 영업이익 약 559억 원, 영업이익률 21% 달성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82496"/>
                <a:gridCol w="1682496"/>
                <a:gridCol w="1682496"/>
                <a:gridCol w="1682496"/>
                <a:gridCol w="1682496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1차년 (2026)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2차년 (2027)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3차년 (2028)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4차년 (2029)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5차년 (2030)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[비용 (COST)]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원재료비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225,000,000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34,500,000,000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외주비-연료탄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-동계연료 (200,000/톤)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-반려동물 모래 (300,000/톤)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운반비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3,600,000,000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7,200,000,000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13,800,000,000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제조비 합계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765,000,000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5,100,000,000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36,600,000,000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73,200,000,000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147,300,000,000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인건비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1,440,000,000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3,840,000,000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복리후생비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192,000,000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영업비(개발비)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36,450,000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286,200,000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1,782,000,000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3,771,000,000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8,082,000,000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135,000,000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2,160,000,000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8,100,000,000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21,600,000,000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54,000,000,000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판관비 합계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297,450,000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2,950,200,000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11,394,000,000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27,891,000,000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0F1E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66,114,000,000 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영업이익 (OP)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152,550,000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1,489,800,000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11,406,000,000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24,609,000,000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4785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55,986,000,000 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영업이익률 (%)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21 / 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274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투자 제안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F1E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SMARTECOSYS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유치 — ₩5억 (Seed Round)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인프라 구축 및 핵심 인력 채용을 위한 시드 라운드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50292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자금 사용 비중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2606040"/>
          <a:ext cx="4663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21945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Total Fund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828800" y="4160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937"/>
                </a:solidFill>
              </a:rPr>
              <a:t>5.0</a:t>
            </a:r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 억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5852160" y="2011680"/>
            <a:ext cx="57607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89320" y="2194560"/>
            <a:ext cx="137160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2176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건조 설비 (소형)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217920" y="2450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1톤/일 처리 용량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00684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1억 2,000만원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698480" y="22677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24%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89320" y="2798064"/>
            <a:ext cx="5486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89320" y="2834640"/>
            <a:ext cx="1371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17920" y="28163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인력 채용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0" y="3090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핵심 인력 3명 (개발/운영)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00684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1억 2,000만원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698480" y="290779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24%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89320" y="3438144"/>
            <a:ext cx="5486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89320" y="3474720"/>
            <a:ext cx="13716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17920" y="3456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수거 차량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17920" y="37307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1톤 트럭 2대 구매/개조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00684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9,000만원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698480" y="35478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18%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989320" y="4078224"/>
            <a:ext cx="5486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89320" y="4114800"/>
            <a:ext cx="137160" cy="5029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17920" y="4096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앱 개발 · 서버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17920" y="43708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외주 개발 및 인프라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9006840" y="4160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8,000만원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0698480" y="418795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16%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989320" y="4718304"/>
            <a:ext cx="5486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989320" y="4754880"/>
            <a:ext cx="137160" cy="50292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0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영업 · 마케팅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217920" y="5010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초기 카페 50곳 모집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9006840" y="4800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5,000만원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10698480" y="482803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10%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989320" y="5358384"/>
            <a:ext cx="5486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989320" y="5394960"/>
            <a:ext cx="137160" cy="5029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217920" y="53766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예비비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217920" y="5650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운영 잡비 및 리스크 대응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006840" y="5440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4,000만원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10698480" y="54681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8%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989320" y="6126480"/>
            <a:ext cx="5486400" cy="365760"/>
          </a:xfrm>
          <a:prstGeom prst="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217920" y="61447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합계 (Total)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9006840" y="61447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47857"/>
                </a:solidFill>
              </a:rPr>
              <a:t>5억 원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10698480" y="61447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47857"/>
                </a:solidFill>
              </a:rPr>
              <a:t>100%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22 / 23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15000" y="2011680"/>
            <a:ext cx="7315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377440"/>
            <a:ext cx="1216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스마트에코시스의 여정에 함께해 주십시오.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51206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5120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Smart EcoSys Inc.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57607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contact@smartecosis.com   |   02-XXX-XXXX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커피박 자원화 플랫폼 사업계획서</dc:title>
  <dc:subject>PptxGenJS Presentation</dc:subject>
  <dc:creator>SMARTECOSYS</dc:creator>
  <cp:lastModifiedBy>SMARTECOSYS</cp:lastModifiedBy>
  <cp:revision>1</cp:revision>
  <dcterms:created xsi:type="dcterms:W3CDTF">2026-04-07T04:24:57Z</dcterms:created>
  <dcterms:modified xsi:type="dcterms:W3CDTF">2026-04-07T04:24:57Z</dcterms:modified>
</cp:coreProperties>
</file>