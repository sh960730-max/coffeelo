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79" r:id="rId1"/>
    <p:sldMasterId id="2147485201" r:id="rId2"/>
  </p:sldMasterIdLst>
  <p:notesMasterIdLst>
    <p:notesMasterId r:id="rId14"/>
  </p:notesMasterIdLst>
  <p:handoutMasterIdLst>
    <p:handoutMasterId r:id="rId15"/>
  </p:handoutMasterIdLst>
  <p:sldIdLst>
    <p:sldId id="1225" r:id="rId3"/>
    <p:sldId id="1031" r:id="rId4"/>
    <p:sldId id="1030" r:id="rId5"/>
    <p:sldId id="785" r:id="rId6"/>
    <p:sldId id="1219" r:id="rId7"/>
    <p:sldId id="1194" r:id="rId8"/>
    <p:sldId id="1231" r:id="rId9"/>
    <p:sldId id="1233" r:id="rId10"/>
    <p:sldId id="1222" r:id="rId11"/>
    <p:sldId id="676" r:id="rId12"/>
    <p:sldId id="1024" r:id="rId13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6F8"/>
    <a:srgbClr val="99FF99"/>
    <a:srgbClr val="0000FF"/>
    <a:srgbClr val="FF9900"/>
    <a:srgbClr val="9900CC"/>
    <a:srgbClr val="0000CC"/>
    <a:srgbClr val="00CC00"/>
    <a:srgbClr val="99FF66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6" autoAdjust="0"/>
    <p:restoredTop sz="95118" autoAdjust="0"/>
  </p:normalViewPr>
  <p:slideViewPr>
    <p:cSldViewPr>
      <p:cViewPr varScale="1">
        <p:scale>
          <a:sx n="81" d="100"/>
          <a:sy n="81" d="100"/>
        </p:scale>
        <p:origin x="12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42"/>
    </p:cViewPr>
  </p:sorterViewPr>
  <p:notesViewPr>
    <p:cSldViewPr>
      <p:cViewPr varScale="1">
        <p:scale>
          <a:sx n="60" d="100"/>
          <a:sy n="60" d="100"/>
        </p:scale>
        <p:origin x="2778" y="66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0BA934-F42D-4BA3-B204-3CD92400EF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9AC0A-0833-451C-BEEB-11D5CBB160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2150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493" y="683341"/>
            <a:ext cx="612068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994" tIns="45996" rIns="91994" bIns="45996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826" y="9429907"/>
            <a:ext cx="2946246" cy="495134"/>
          </a:xfrm>
          <a:prstGeom prst="rect">
            <a:avLst/>
          </a:prstGeom>
        </p:spPr>
        <p:txBody>
          <a:bodyPr vert="horz" lIns="91994" tIns="45996" rIns="91994" bIns="4599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06800787-65B3-451B-878E-BCA228C76AC8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8" name="슬라이드 노트 개체 틀 7">
            <a:extLst>
              <a:ext uri="{FF2B5EF4-FFF2-40B4-BE49-F238E27FC236}">
                <a16:creationId xmlns:a16="http://schemas.microsoft.com/office/drawing/2014/main" id="{F683AAF2-EE8F-45BE-B2C3-BCCBF4407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2493" y="4531271"/>
            <a:ext cx="6192688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906761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7"/>
          <p:cNvSpPr txBox="1">
            <a:spLocks noGrp="1" noChangeArrowheads="1"/>
          </p:cNvSpPr>
          <p:nvPr/>
        </p:nvSpPr>
        <p:spPr bwMode="auto">
          <a:xfrm>
            <a:off x="3848224" y="9428309"/>
            <a:ext cx="2947848" cy="496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34" tIns="45267" rIns="90534" bIns="45267" anchor="b"/>
          <a:lstStyle/>
          <a:p>
            <a:pPr algn="r" defTabSz="895490" latinLnBrk="0"/>
            <a:fld id="{EF8710E7-C937-4B02-8E9F-F58C56E3AA65}" type="slidenum">
              <a:rPr kumimoji="0" lang="de-DE" altLang="ko-KR" sz="1200">
                <a:latin typeface="Times New Roman" pitchFamily="18" charset="0"/>
              </a:rPr>
              <a:pPr algn="r" defTabSz="895490" latinLnBrk="0"/>
              <a:t>1</a:t>
            </a:fld>
            <a:endParaRPr kumimoji="0" lang="de-DE" altLang="ko-KR" sz="1200" dirty="0">
              <a:latin typeface="Times New Roman" pitchFamily="18" charset="0"/>
            </a:endParaRPr>
          </a:p>
        </p:txBody>
      </p:sp>
      <p:sp>
        <p:nvSpPr>
          <p:cNvPr id="39940" name="Rectangle 7"/>
          <p:cNvSpPr txBox="1">
            <a:spLocks noGrp="1" noChangeArrowheads="1"/>
          </p:cNvSpPr>
          <p:nvPr/>
        </p:nvSpPr>
        <p:spPr bwMode="auto">
          <a:xfrm>
            <a:off x="3851429" y="9434698"/>
            <a:ext cx="2946247" cy="49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883" tIns="46945" rIns="93883" bIns="46945" anchor="b"/>
          <a:lstStyle/>
          <a:p>
            <a:pPr algn="r" defTabSz="930670" latinLnBrk="0"/>
            <a:fld id="{D3257C31-EA80-4C0A-AAE9-15006E0C71B0}" type="slidenum">
              <a:rPr kumimoji="0" lang="en-GB" altLang="ko-KR" sz="1300"/>
              <a:pPr algn="r" defTabSz="930670" latinLnBrk="0"/>
              <a:t>1</a:t>
            </a:fld>
            <a:endParaRPr kumimoji="0" lang="en-GB" altLang="ko-KR" sz="1300" dirty="0"/>
          </a:p>
        </p:txBody>
      </p:sp>
      <p:sp>
        <p:nvSpPr>
          <p:cNvPr id="399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7575" y="744538"/>
            <a:ext cx="4967288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8387" y="4711759"/>
            <a:ext cx="4980902" cy="4468983"/>
          </a:xfrm>
          <a:noFill/>
        </p:spPr>
        <p:txBody>
          <a:bodyPr lIns="93883" tIns="46945" rIns="93883" bIns="46945"/>
          <a:lstStyle/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027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D634E81E-E752-1FB1-EA9D-9954DA13DCF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621338" y="6456363"/>
            <a:ext cx="4303712" cy="33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1pPr>
            <a:lvl2pPr marL="747713" indent="-287338" defTabSz="8953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2pPr>
            <a:lvl3pPr marL="1150938" indent="-230188" defTabSz="8953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3pPr>
            <a:lvl4pPr marL="1611313" indent="-230188" defTabSz="8953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4pPr>
            <a:lvl5pPr marL="2071688" indent="-230188" defTabSz="8953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5pPr>
            <a:lvl6pPr marL="2528888" indent="-230188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6pPr>
            <a:lvl7pPr marL="2986088" indent="-230188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7pPr>
            <a:lvl8pPr marL="3443288" indent="-230188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8pPr>
            <a:lvl9pPr marL="3900488" indent="-230188" defTabSz="89535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9pPr>
          </a:lstStyle>
          <a:p>
            <a:fld id="{EDC693BC-67F6-4F38-A896-93FECF5229A2}" type="slidenum">
              <a:rPr lang="de-DE" altLang="ko-KR" sz="1200">
                <a:latin typeface="Times New Roman" panose="02020603050405020304" pitchFamily="18" charset="0"/>
              </a:rPr>
              <a:pPr/>
              <a:t>4</a:t>
            </a:fld>
            <a:endParaRPr lang="de-DE" altLang="ko-KR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055">
            <a:extLst>
              <a:ext uri="{FF2B5EF4-FFF2-40B4-BE49-F238E27FC236}">
                <a16:creationId xmlns:a16="http://schemas.microsoft.com/office/drawing/2014/main" id="{05FC3042-73E6-99B4-FB8C-BCC287195CB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2119460" y="5861844"/>
            <a:ext cx="43037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34" tIns="45267" rIns="90534" bIns="45267" anchor="b"/>
          <a:lstStyle>
            <a:lvl1pPr defTabSz="8890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1pPr>
            <a:lvl2pPr marL="742950" indent="-285750" defTabSz="8890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2pPr>
            <a:lvl3pPr marL="1143000" indent="-228600" defTabSz="8890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3pPr>
            <a:lvl4pPr marL="1600200" indent="-228600" defTabSz="8890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4pPr>
            <a:lvl5pPr marL="2057400" indent="-228600" defTabSz="8890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5pPr>
            <a:lvl6pPr marL="25146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6pPr>
            <a:lvl7pPr marL="29718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7pPr>
            <a:lvl8pPr marL="34290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8pPr>
            <a:lvl9pPr marL="38862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FA2F31A2-E4F4-44F5-8088-6764ACD7A94D}" type="slidenum">
              <a:rPr kumimoji="0" lang="en-US" altLang="ko-KR" sz="1200">
                <a:solidFill>
                  <a:srgbClr val="00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pPr algn="r" eaLnBrk="1" hangingPunct="1">
                <a:spcBef>
                  <a:spcPct val="50000"/>
                </a:spcBef>
              </a:pPr>
              <a:t>4</a:t>
            </a:fld>
            <a:endParaRPr kumimoji="0" lang="en-US" altLang="ko-KR" sz="1200" dirty="0">
              <a:solidFill>
                <a:srgbClr val="0000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3DC9F59B-110B-1348-7A3D-82C0DACFC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82650" y="682625"/>
            <a:ext cx="4960938" cy="3721100"/>
          </a:xfrm>
          <a:ln/>
        </p:spPr>
      </p:sp>
      <p:sp>
        <p:nvSpPr>
          <p:cNvPr id="101381" name="Rectangle 3">
            <a:extLst>
              <a:ext uri="{FF2B5EF4-FFF2-40B4-BE49-F238E27FC236}">
                <a16:creationId xmlns:a16="http://schemas.microsoft.com/office/drawing/2014/main" id="{382A26A1-57AB-8770-D2B1-B7333DC42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25563" y="3228975"/>
            <a:ext cx="7275512" cy="3057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91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2650" y="682625"/>
            <a:ext cx="4960938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288" y="4714953"/>
            <a:ext cx="5439101" cy="4467387"/>
          </a:xfrm>
          <a:prstGeom prst="rect">
            <a:avLst/>
          </a:prstGeom>
        </p:spPr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1C5E5-5086-4AB7-B939-027D9F31F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00787-65B3-451B-878E-BCA228C76AC8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959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8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9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2100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pPr>
              <a:defRPr/>
            </a:pPr>
            <a:fld id="{3D260B26-4880-44B6-8D9C-772E5211AFF7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751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0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7739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71218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Box 6963">
            <a:extLst>
              <a:ext uri="{FF2B5EF4-FFF2-40B4-BE49-F238E27FC236}">
                <a16:creationId xmlns:a16="http://schemas.microsoft.com/office/drawing/2014/main" id="{946AF024-576F-4E27-A86B-6B6BB01B73B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4313" y="6627813"/>
            <a:ext cx="3214687" cy="153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+mj-ea"/>
                <a:ea typeface="+mj-ea"/>
                <a:cs typeface="Arial" pitchFamily="34" charset="0"/>
              </a:rPr>
              <a:t>친환경 건축내장재 판넬 제조</a:t>
            </a:r>
            <a:r>
              <a:rPr kumimoji="0" lang="en-US" altLang="ko-KR" sz="1000" dirty="0">
                <a:latin typeface="+mj-ea"/>
                <a:ea typeface="+mj-ea"/>
                <a:cs typeface="Arial" pitchFamily="34" charset="0"/>
              </a:rPr>
              <a:t>/</a:t>
            </a:r>
            <a:r>
              <a:rPr kumimoji="0" lang="ko-KR" altLang="en-US" sz="1000" dirty="0">
                <a:latin typeface="+mj-ea"/>
                <a:ea typeface="+mj-ea"/>
                <a:cs typeface="Arial" pitchFamily="34" charset="0"/>
              </a:rPr>
              <a:t>판매 사업계획서</a:t>
            </a:r>
            <a:endParaRPr kumimoji="0" lang="en-US" altLang="ko-KR" sz="1000" dirty="0">
              <a:latin typeface="+mj-ea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30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43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46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550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9747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986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0173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01745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32092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>
              <a:defRPr/>
            </a:pPr>
            <a:fld id="{43FC4FDD-A91A-4E57-87B1-8810C8653373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4934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697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106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FC4FDD-A91A-4E57-87B1-8810C8653373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49FA0-B5E2-4A69-B0AD-D9A675F03784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5380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FC4FDD-A91A-4E57-87B1-8810C8653373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864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963"/>
          <p:cNvSpPr txBox="1">
            <a:spLocks noChangeArrowheads="1"/>
          </p:cNvSpPr>
          <p:nvPr userDrawn="1"/>
        </p:nvSpPr>
        <p:spPr bwMode="auto">
          <a:xfrm>
            <a:off x="214313" y="6627813"/>
            <a:ext cx="3214687" cy="153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latin typeface="+mj-ea"/>
                <a:ea typeface="+mj-ea"/>
                <a:cs typeface="Arial" pitchFamily="34" charset="0"/>
              </a:rPr>
              <a:t>친환경 건축내장재 판넬 제조</a:t>
            </a:r>
            <a:r>
              <a:rPr kumimoji="0" lang="en-US" altLang="ko-KR" sz="1000" dirty="0">
                <a:latin typeface="+mj-ea"/>
                <a:ea typeface="+mj-ea"/>
                <a:cs typeface="Arial" pitchFamily="34" charset="0"/>
              </a:rPr>
              <a:t>/</a:t>
            </a:r>
            <a:r>
              <a:rPr kumimoji="0" lang="ko-KR" altLang="en-US" sz="1000" dirty="0">
                <a:latin typeface="+mj-ea"/>
                <a:ea typeface="+mj-ea"/>
                <a:cs typeface="Arial" pitchFamily="34" charset="0"/>
              </a:rPr>
              <a:t>판매 사업계획서</a:t>
            </a:r>
            <a:endParaRPr kumimoji="0" lang="en-US" altLang="ko-KR" sz="1000" dirty="0"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18419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49FA0-B5E2-4A69-B0AD-D9A675F0378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8980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6587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83596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55740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25903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4638" y="44450"/>
            <a:ext cx="2062162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38150" y="44450"/>
            <a:ext cx="6034088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6420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0703D-D98A-4597-AB32-0A559ED162E0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65729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38150" y="44450"/>
            <a:ext cx="8229600" cy="7778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288" y="765175"/>
            <a:ext cx="8229600" cy="5256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60B26-4880-44B6-8D9C-772E5211AF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30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sz="quarter"/>
          </p:nvPr>
        </p:nvSpPr>
        <p:spPr>
          <a:xfrm>
            <a:off x="438150" y="44450"/>
            <a:ext cx="8229600" cy="7778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395288" y="765175"/>
            <a:ext cx="4038600" cy="25511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586288" y="765175"/>
            <a:ext cx="4038600" cy="25511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395288" y="3468688"/>
            <a:ext cx="4038600" cy="2552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586288" y="3468688"/>
            <a:ext cx="4038600" cy="25527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100CF-93A2-433E-9BF3-371F82DA406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9212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7189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:\2012. 진행프로젝트\10. 탑피티\PSD\png\08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92" y="6734185"/>
            <a:ext cx="9142413" cy="123825"/>
          </a:xfrm>
          <a:prstGeom prst="rect">
            <a:avLst/>
          </a:prstGeom>
          <a:noFill/>
        </p:spPr>
      </p:pic>
      <p:pic>
        <p:nvPicPr>
          <p:cNvPr id="3075" name="Picture 3" descr="H:\2012. 진행프로젝트\10. 탑피티\PSD\png\09.png"/>
          <p:cNvPicPr>
            <a:picLocks noChangeAspect="1" noChangeArrowheads="1"/>
          </p:cNvPicPr>
          <p:nvPr userDrawn="1"/>
        </p:nvPicPr>
        <p:blipFill>
          <a:blip r:embed="rId4" cstate="print"/>
          <a:srcRect r="14065" b="81743"/>
          <a:stretch>
            <a:fillRect/>
          </a:stretch>
        </p:blipFill>
        <p:spPr bwMode="auto">
          <a:xfrm>
            <a:off x="1593" y="10"/>
            <a:ext cx="7856560" cy="12518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578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4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0FE61780-2E25-4081-A2D9-4C0805256F67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3FC4FDD-A91A-4E57-87B1-8810C8653373}" type="slidenum">
              <a:rPr lang="ko-KR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936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0" r:id="rId1"/>
    <p:sldLayoutId id="2147485181" r:id="rId2"/>
    <p:sldLayoutId id="2147485182" r:id="rId3"/>
    <p:sldLayoutId id="2147485183" r:id="rId4"/>
    <p:sldLayoutId id="2147485184" r:id="rId5"/>
    <p:sldLayoutId id="2147485185" r:id="rId6"/>
    <p:sldLayoutId id="2147485186" r:id="rId7"/>
    <p:sldLayoutId id="2147485187" r:id="rId8"/>
    <p:sldLayoutId id="2147485188" r:id="rId9"/>
    <p:sldLayoutId id="2147485189" r:id="rId10"/>
    <p:sldLayoutId id="2147485190" r:id="rId11"/>
    <p:sldLayoutId id="2147485191" r:id="rId12"/>
    <p:sldLayoutId id="2147485192" r:id="rId13"/>
    <p:sldLayoutId id="2147485193" r:id="rId14"/>
    <p:sldLayoutId id="2147485194" r:id="rId15"/>
    <p:sldLayoutId id="2147485195" r:id="rId16"/>
    <p:sldLayoutId id="2147485196" r:id="rId17"/>
    <p:sldLayoutId id="2147485102" r:id="rId18"/>
    <p:sldLayoutId id="2147485103" r:id="rId19"/>
    <p:sldLayoutId id="2147485098" r:id="rId20"/>
    <p:sldLayoutId id="2147485107" r:id="rId21"/>
    <p:sldLayoutId id="2147485110" r:id="rId22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38150" y="44450"/>
            <a:ext cx="82296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765175"/>
            <a:ext cx="82296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2987675" y="59499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3FC4FDD-A91A-4E57-87B1-8810C865337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94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2" r:id="rId1"/>
    <p:sldLayoutId id="2147485203" r:id="rId2"/>
    <p:sldLayoutId id="2147485204" r:id="rId3"/>
    <p:sldLayoutId id="2147485205" r:id="rId4"/>
    <p:sldLayoutId id="2147485206" r:id="rId5"/>
    <p:sldLayoutId id="2147485207" r:id="rId6"/>
    <p:sldLayoutId id="2147485208" r:id="rId7"/>
    <p:sldLayoutId id="2147485209" r:id="rId8"/>
    <p:sldLayoutId id="2147485210" r:id="rId9"/>
    <p:sldLayoutId id="2147485211" r:id="rId10"/>
    <p:sldLayoutId id="2147485212" r:id="rId11"/>
    <p:sldLayoutId id="2147485213" r:id="rId12"/>
    <p:sldLayoutId id="2147485214" r:id="rId13"/>
    <p:sldLayoutId id="2147485215" r:id="rId1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HY울릉도M" pitchFamily="18" charset="-127"/>
          <a:ea typeface="HY울릉도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HY울릉도M" pitchFamily="18" charset="-127"/>
          <a:ea typeface="HY울릉도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HY울릉도M" pitchFamily="18" charset="-127"/>
          <a:ea typeface="HY울릉도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HY울릉도M" pitchFamily="18" charset="-127"/>
          <a:ea typeface="HY울릉도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HY울릉도M" pitchFamily="18" charset="-127"/>
          <a:ea typeface="HY울릉도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HY울릉도M" pitchFamily="18" charset="-127"/>
          <a:ea typeface="HY울릉도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HY울릉도M" pitchFamily="18" charset="-127"/>
          <a:ea typeface="HY울릉도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defRPr kumimoji="1" sz="2800">
          <a:solidFill>
            <a:schemeClr val="tx1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•"/>
        <a:defRPr kumimoji="1" sz="2500">
          <a:solidFill>
            <a:srgbClr val="292929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292929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292929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292929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292929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rgbClr val="292929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rgbClr val="292929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rgbClr val="292929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>
          <a:solidFill>
            <a:srgbClr val="292929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leeyeol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www.leeyeol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0.jp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8.jp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9.jpg"/><Relationship Id="rId7" Type="http://schemas.openxmlformats.org/officeDocument/2006/relationships/image" Target="../media/image23.jpeg"/><Relationship Id="rId12" Type="http://schemas.openxmlformats.org/officeDocument/2006/relationships/image" Target="../media/image2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jpeg"/><Relationship Id="rId4" Type="http://schemas.openxmlformats.org/officeDocument/2006/relationships/image" Target="../media/image10.jp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4544" y="0"/>
            <a:ext cx="9468544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" name="그림 9" descr="잔디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285784" y="2000250"/>
            <a:ext cx="9429784" cy="3714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자유형 10"/>
          <p:cNvSpPr/>
          <p:nvPr/>
        </p:nvSpPr>
        <p:spPr>
          <a:xfrm>
            <a:off x="-285784" y="2571744"/>
            <a:ext cx="9429784" cy="4286256"/>
          </a:xfrm>
          <a:custGeom>
            <a:avLst/>
            <a:gdLst>
              <a:gd name="connsiteX0" fmla="*/ 0 w 9144000"/>
              <a:gd name="connsiteY0" fmla="*/ 0 h 3000372"/>
              <a:gd name="connsiteX1" fmla="*/ 9144000 w 9144000"/>
              <a:gd name="connsiteY1" fmla="*/ 0 h 3000372"/>
              <a:gd name="connsiteX2" fmla="*/ 9144000 w 9144000"/>
              <a:gd name="connsiteY2" fmla="*/ 3000372 h 3000372"/>
              <a:gd name="connsiteX3" fmla="*/ 0 w 9144000"/>
              <a:gd name="connsiteY3" fmla="*/ 3000372 h 3000372"/>
              <a:gd name="connsiteX4" fmla="*/ 0 w 9144000"/>
              <a:gd name="connsiteY4" fmla="*/ 0 h 3000372"/>
              <a:gd name="connsiteX0" fmla="*/ 0 w 9144000"/>
              <a:gd name="connsiteY0" fmla="*/ 1143008 h 3000372"/>
              <a:gd name="connsiteX1" fmla="*/ 9144000 w 9144000"/>
              <a:gd name="connsiteY1" fmla="*/ 0 h 3000372"/>
              <a:gd name="connsiteX2" fmla="*/ 9144000 w 9144000"/>
              <a:gd name="connsiteY2" fmla="*/ 3000372 h 3000372"/>
              <a:gd name="connsiteX3" fmla="*/ 0 w 9144000"/>
              <a:gd name="connsiteY3" fmla="*/ 3000372 h 3000372"/>
              <a:gd name="connsiteX4" fmla="*/ 0 w 9144000"/>
              <a:gd name="connsiteY4" fmla="*/ 1143008 h 3000372"/>
              <a:gd name="connsiteX0" fmla="*/ 0 w 9144000"/>
              <a:gd name="connsiteY0" fmla="*/ 428628 h 3000372"/>
              <a:gd name="connsiteX1" fmla="*/ 9144000 w 9144000"/>
              <a:gd name="connsiteY1" fmla="*/ 0 h 3000372"/>
              <a:gd name="connsiteX2" fmla="*/ 9144000 w 9144000"/>
              <a:gd name="connsiteY2" fmla="*/ 3000372 h 3000372"/>
              <a:gd name="connsiteX3" fmla="*/ 0 w 9144000"/>
              <a:gd name="connsiteY3" fmla="*/ 3000372 h 3000372"/>
              <a:gd name="connsiteX4" fmla="*/ 0 w 9144000"/>
              <a:gd name="connsiteY4" fmla="*/ 428628 h 3000372"/>
              <a:gd name="connsiteX0" fmla="*/ 12700 w 9144000"/>
              <a:gd name="connsiteY0" fmla="*/ 384172 h 3000372"/>
              <a:gd name="connsiteX1" fmla="*/ 9144000 w 9144000"/>
              <a:gd name="connsiteY1" fmla="*/ 0 h 3000372"/>
              <a:gd name="connsiteX2" fmla="*/ 9144000 w 9144000"/>
              <a:gd name="connsiteY2" fmla="*/ 3000372 h 3000372"/>
              <a:gd name="connsiteX3" fmla="*/ 0 w 9144000"/>
              <a:gd name="connsiteY3" fmla="*/ 3000372 h 3000372"/>
              <a:gd name="connsiteX4" fmla="*/ 12700 w 9144000"/>
              <a:gd name="connsiteY4" fmla="*/ 384172 h 3000372"/>
              <a:gd name="connsiteX0" fmla="*/ 12700 w 9144000"/>
              <a:gd name="connsiteY0" fmla="*/ 0 h 2616200"/>
              <a:gd name="connsiteX1" fmla="*/ 9144000 w 9144000"/>
              <a:gd name="connsiteY1" fmla="*/ 1187464 h 2616200"/>
              <a:gd name="connsiteX2" fmla="*/ 9144000 w 9144000"/>
              <a:gd name="connsiteY2" fmla="*/ 2616200 h 2616200"/>
              <a:gd name="connsiteX3" fmla="*/ 0 w 9144000"/>
              <a:gd name="connsiteY3" fmla="*/ 2616200 h 2616200"/>
              <a:gd name="connsiteX4" fmla="*/ 12700 w 9144000"/>
              <a:gd name="connsiteY4" fmla="*/ 0 h 2616200"/>
              <a:gd name="connsiteX0" fmla="*/ 12700 w 9144000"/>
              <a:gd name="connsiteY0" fmla="*/ 0 h 2616200"/>
              <a:gd name="connsiteX1" fmla="*/ 9144000 w 9144000"/>
              <a:gd name="connsiteY1" fmla="*/ 1616092 h 2616200"/>
              <a:gd name="connsiteX2" fmla="*/ 9144000 w 9144000"/>
              <a:gd name="connsiteY2" fmla="*/ 2616200 h 2616200"/>
              <a:gd name="connsiteX3" fmla="*/ 0 w 9144000"/>
              <a:gd name="connsiteY3" fmla="*/ 2616200 h 2616200"/>
              <a:gd name="connsiteX4" fmla="*/ 12700 w 9144000"/>
              <a:gd name="connsiteY4" fmla="*/ 0 h 2616200"/>
              <a:gd name="connsiteX0" fmla="*/ 12700 w 9144000"/>
              <a:gd name="connsiteY0" fmla="*/ 1072625 h 3688825"/>
              <a:gd name="connsiteX1" fmla="*/ 9144000 w 9144000"/>
              <a:gd name="connsiteY1" fmla="*/ 2688717 h 3688825"/>
              <a:gd name="connsiteX2" fmla="*/ 9144000 w 9144000"/>
              <a:gd name="connsiteY2" fmla="*/ 3688825 h 3688825"/>
              <a:gd name="connsiteX3" fmla="*/ 0 w 9144000"/>
              <a:gd name="connsiteY3" fmla="*/ 3688825 h 3688825"/>
              <a:gd name="connsiteX4" fmla="*/ 12700 w 9144000"/>
              <a:gd name="connsiteY4" fmla="*/ 1072625 h 3688825"/>
              <a:gd name="connsiteX0" fmla="*/ 12700 w 9144000"/>
              <a:gd name="connsiteY0" fmla="*/ 1072625 h 3688825"/>
              <a:gd name="connsiteX1" fmla="*/ 9144000 w 9144000"/>
              <a:gd name="connsiteY1" fmla="*/ 2688717 h 3688825"/>
              <a:gd name="connsiteX2" fmla="*/ 9144000 w 9144000"/>
              <a:gd name="connsiteY2" fmla="*/ 3688825 h 3688825"/>
              <a:gd name="connsiteX3" fmla="*/ 0 w 9144000"/>
              <a:gd name="connsiteY3" fmla="*/ 3688825 h 3688825"/>
              <a:gd name="connsiteX4" fmla="*/ 12700 w 9144000"/>
              <a:gd name="connsiteY4" fmla="*/ 1072625 h 3688825"/>
              <a:gd name="connsiteX0" fmla="*/ 12700 w 9144000"/>
              <a:gd name="connsiteY0" fmla="*/ 1072625 h 3688825"/>
              <a:gd name="connsiteX1" fmla="*/ 9144000 w 9144000"/>
              <a:gd name="connsiteY1" fmla="*/ 3045908 h 3688825"/>
              <a:gd name="connsiteX2" fmla="*/ 9144000 w 9144000"/>
              <a:gd name="connsiteY2" fmla="*/ 3688825 h 3688825"/>
              <a:gd name="connsiteX3" fmla="*/ 0 w 9144000"/>
              <a:gd name="connsiteY3" fmla="*/ 3688825 h 3688825"/>
              <a:gd name="connsiteX4" fmla="*/ 12700 w 9144000"/>
              <a:gd name="connsiteY4" fmla="*/ 1072625 h 3688825"/>
              <a:gd name="connsiteX0" fmla="*/ 12700 w 9144000"/>
              <a:gd name="connsiteY0" fmla="*/ 1072625 h 3688825"/>
              <a:gd name="connsiteX1" fmla="*/ 9144000 w 9144000"/>
              <a:gd name="connsiteY1" fmla="*/ 3188784 h 3688825"/>
              <a:gd name="connsiteX2" fmla="*/ 9144000 w 9144000"/>
              <a:gd name="connsiteY2" fmla="*/ 3688825 h 3688825"/>
              <a:gd name="connsiteX3" fmla="*/ 0 w 9144000"/>
              <a:gd name="connsiteY3" fmla="*/ 3688825 h 3688825"/>
              <a:gd name="connsiteX4" fmla="*/ 12700 w 9144000"/>
              <a:gd name="connsiteY4" fmla="*/ 1072625 h 3688825"/>
              <a:gd name="connsiteX0" fmla="*/ 12700 w 9144000"/>
              <a:gd name="connsiteY0" fmla="*/ 1072625 h 3688825"/>
              <a:gd name="connsiteX1" fmla="*/ 9144000 w 9144000"/>
              <a:gd name="connsiteY1" fmla="*/ 3188784 h 3688825"/>
              <a:gd name="connsiteX2" fmla="*/ 9144000 w 9144000"/>
              <a:gd name="connsiteY2" fmla="*/ 3688825 h 3688825"/>
              <a:gd name="connsiteX3" fmla="*/ 0 w 9144000"/>
              <a:gd name="connsiteY3" fmla="*/ 3688825 h 3688825"/>
              <a:gd name="connsiteX4" fmla="*/ 12700 w 9144000"/>
              <a:gd name="connsiteY4" fmla="*/ 1072625 h 3688825"/>
              <a:gd name="connsiteX0" fmla="*/ 12700 w 9144000"/>
              <a:gd name="connsiteY0" fmla="*/ 570973 h 3187173"/>
              <a:gd name="connsiteX1" fmla="*/ 9144000 w 9144000"/>
              <a:gd name="connsiteY1" fmla="*/ 2687132 h 3187173"/>
              <a:gd name="connsiteX2" fmla="*/ 9144000 w 9144000"/>
              <a:gd name="connsiteY2" fmla="*/ 3187173 h 3187173"/>
              <a:gd name="connsiteX3" fmla="*/ 0 w 9144000"/>
              <a:gd name="connsiteY3" fmla="*/ 3187173 h 3187173"/>
              <a:gd name="connsiteX4" fmla="*/ 12700 w 9144000"/>
              <a:gd name="connsiteY4" fmla="*/ 570973 h 3187173"/>
              <a:gd name="connsiteX0" fmla="*/ 12700 w 9144000"/>
              <a:gd name="connsiteY0" fmla="*/ 950387 h 3566587"/>
              <a:gd name="connsiteX1" fmla="*/ 9144000 w 9144000"/>
              <a:gd name="connsiteY1" fmla="*/ 3066546 h 3566587"/>
              <a:gd name="connsiteX2" fmla="*/ 9144000 w 9144000"/>
              <a:gd name="connsiteY2" fmla="*/ 3566587 h 3566587"/>
              <a:gd name="connsiteX3" fmla="*/ 0 w 9144000"/>
              <a:gd name="connsiteY3" fmla="*/ 3566587 h 3566587"/>
              <a:gd name="connsiteX4" fmla="*/ 12700 w 9144000"/>
              <a:gd name="connsiteY4" fmla="*/ 950387 h 3566587"/>
              <a:gd name="connsiteX0" fmla="*/ 12700 w 9144000"/>
              <a:gd name="connsiteY0" fmla="*/ 950387 h 3566587"/>
              <a:gd name="connsiteX1" fmla="*/ 9144000 w 9144000"/>
              <a:gd name="connsiteY1" fmla="*/ 3066546 h 3566587"/>
              <a:gd name="connsiteX2" fmla="*/ 9144000 w 9144000"/>
              <a:gd name="connsiteY2" fmla="*/ 3566587 h 3566587"/>
              <a:gd name="connsiteX3" fmla="*/ 0 w 9144000"/>
              <a:gd name="connsiteY3" fmla="*/ 3566587 h 3566587"/>
              <a:gd name="connsiteX4" fmla="*/ 12700 w 9144000"/>
              <a:gd name="connsiteY4" fmla="*/ 950387 h 3566587"/>
              <a:gd name="connsiteX0" fmla="*/ 12700 w 9144000"/>
              <a:gd name="connsiteY0" fmla="*/ 950387 h 3566587"/>
              <a:gd name="connsiteX1" fmla="*/ 9144000 w 9144000"/>
              <a:gd name="connsiteY1" fmla="*/ 3066546 h 3566587"/>
              <a:gd name="connsiteX2" fmla="*/ 9144000 w 9144000"/>
              <a:gd name="connsiteY2" fmla="*/ 3566587 h 3566587"/>
              <a:gd name="connsiteX3" fmla="*/ 0 w 9144000"/>
              <a:gd name="connsiteY3" fmla="*/ 3566587 h 3566587"/>
              <a:gd name="connsiteX4" fmla="*/ 12700 w 9144000"/>
              <a:gd name="connsiteY4" fmla="*/ 950387 h 3566587"/>
              <a:gd name="connsiteX0" fmla="*/ 4233 w 9148233"/>
              <a:gd name="connsiteY0" fmla="*/ 950387 h 3553887"/>
              <a:gd name="connsiteX1" fmla="*/ 9148233 w 9148233"/>
              <a:gd name="connsiteY1" fmla="*/ 3053846 h 3553887"/>
              <a:gd name="connsiteX2" fmla="*/ 9148233 w 9148233"/>
              <a:gd name="connsiteY2" fmla="*/ 3553887 h 3553887"/>
              <a:gd name="connsiteX3" fmla="*/ 4233 w 9148233"/>
              <a:gd name="connsiteY3" fmla="*/ 3553887 h 3553887"/>
              <a:gd name="connsiteX4" fmla="*/ 4233 w 9148233"/>
              <a:gd name="connsiteY4" fmla="*/ 950387 h 3553887"/>
              <a:gd name="connsiteX0" fmla="*/ 9525 w 9153525"/>
              <a:gd name="connsiteY0" fmla="*/ 950387 h 3563412"/>
              <a:gd name="connsiteX1" fmla="*/ 9153525 w 9153525"/>
              <a:gd name="connsiteY1" fmla="*/ 3053846 h 3563412"/>
              <a:gd name="connsiteX2" fmla="*/ 9153525 w 9153525"/>
              <a:gd name="connsiteY2" fmla="*/ 3553887 h 3563412"/>
              <a:gd name="connsiteX3" fmla="*/ 0 w 9153525"/>
              <a:gd name="connsiteY3" fmla="*/ 3563412 h 3563412"/>
              <a:gd name="connsiteX4" fmla="*/ 9525 w 9153525"/>
              <a:gd name="connsiteY4" fmla="*/ 950387 h 3563412"/>
              <a:gd name="connsiteX0" fmla="*/ 9525 w 9153525"/>
              <a:gd name="connsiteY0" fmla="*/ 950387 h 3553887"/>
              <a:gd name="connsiteX1" fmla="*/ 9153525 w 9153525"/>
              <a:gd name="connsiteY1" fmla="*/ 3044321 h 3553887"/>
              <a:gd name="connsiteX2" fmla="*/ 9153525 w 9153525"/>
              <a:gd name="connsiteY2" fmla="*/ 3544362 h 3553887"/>
              <a:gd name="connsiteX3" fmla="*/ 0 w 9153525"/>
              <a:gd name="connsiteY3" fmla="*/ 3553887 h 3553887"/>
              <a:gd name="connsiteX4" fmla="*/ 9525 w 9153525"/>
              <a:gd name="connsiteY4" fmla="*/ 950387 h 3553887"/>
              <a:gd name="connsiteX0" fmla="*/ 19050 w 9153525"/>
              <a:gd name="connsiteY0" fmla="*/ 950387 h 3582462"/>
              <a:gd name="connsiteX1" fmla="*/ 9153525 w 9153525"/>
              <a:gd name="connsiteY1" fmla="*/ 3072896 h 3582462"/>
              <a:gd name="connsiteX2" fmla="*/ 9153525 w 9153525"/>
              <a:gd name="connsiteY2" fmla="*/ 3572937 h 3582462"/>
              <a:gd name="connsiteX3" fmla="*/ 0 w 9153525"/>
              <a:gd name="connsiteY3" fmla="*/ 3582462 h 3582462"/>
              <a:gd name="connsiteX4" fmla="*/ 19050 w 9153525"/>
              <a:gd name="connsiteY4" fmla="*/ 950387 h 3582462"/>
              <a:gd name="connsiteX0" fmla="*/ 9525 w 9153525"/>
              <a:gd name="connsiteY0" fmla="*/ 950387 h 3611037"/>
              <a:gd name="connsiteX1" fmla="*/ 9153525 w 9153525"/>
              <a:gd name="connsiteY1" fmla="*/ 3101471 h 3611037"/>
              <a:gd name="connsiteX2" fmla="*/ 9153525 w 9153525"/>
              <a:gd name="connsiteY2" fmla="*/ 3601512 h 3611037"/>
              <a:gd name="connsiteX3" fmla="*/ 0 w 9153525"/>
              <a:gd name="connsiteY3" fmla="*/ 3611037 h 3611037"/>
              <a:gd name="connsiteX4" fmla="*/ 9525 w 9153525"/>
              <a:gd name="connsiteY4" fmla="*/ 950387 h 3611037"/>
              <a:gd name="connsiteX0" fmla="*/ 9525 w 9153525"/>
              <a:gd name="connsiteY0" fmla="*/ 950387 h 3601512"/>
              <a:gd name="connsiteX1" fmla="*/ 9153525 w 9153525"/>
              <a:gd name="connsiteY1" fmla="*/ 3101471 h 3601512"/>
              <a:gd name="connsiteX2" fmla="*/ 9153525 w 9153525"/>
              <a:gd name="connsiteY2" fmla="*/ 3601512 h 3601512"/>
              <a:gd name="connsiteX3" fmla="*/ 0 w 9153525"/>
              <a:gd name="connsiteY3" fmla="*/ 3473877 h 3601512"/>
              <a:gd name="connsiteX4" fmla="*/ 9525 w 9153525"/>
              <a:gd name="connsiteY4" fmla="*/ 950387 h 3601512"/>
              <a:gd name="connsiteX0" fmla="*/ 9525 w 9153525"/>
              <a:gd name="connsiteY0" fmla="*/ 950387 h 3609109"/>
              <a:gd name="connsiteX1" fmla="*/ 9153525 w 9153525"/>
              <a:gd name="connsiteY1" fmla="*/ 3101471 h 3609109"/>
              <a:gd name="connsiteX2" fmla="*/ 9153525 w 9153525"/>
              <a:gd name="connsiteY2" fmla="*/ 3601512 h 3609109"/>
              <a:gd name="connsiteX3" fmla="*/ 0 w 9153525"/>
              <a:gd name="connsiteY3" fmla="*/ 3609109 h 3609109"/>
              <a:gd name="connsiteX4" fmla="*/ 9525 w 9153525"/>
              <a:gd name="connsiteY4" fmla="*/ 950387 h 3609109"/>
              <a:gd name="connsiteX0" fmla="*/ 4233 w 9148233"/>
              <a:gd name="connsiteY0" fmla="*/ 950387 h 3601965"/>
              <a:gd name="connsiteX1" fmla="*/ 9148233 w 9148233"/>
              <a:gd name="connsiteY1" fmla="*/ 3101471 h 3601965"/>
              <a:gd name="connsiteX2" fmla="*/ 9148233 w 9148233"/>
              <a:gd name="connsiteY2" fmla="*/ 3601512 h 3601965"/>
              <a:gd name="connsiteX3" fmla="*/ 4234 w 9148233"/>
              <a:gd name="connsiteY3" fmla="*/ 3601965 h 3601965"/>
              <a:gd name="connsiteX4" fmla="*/ 4233 w 9148233"/>
              <a:gd name="connsiteY4" fmla="*/ 950387 h 3601965"/>
              <a:gd name="connsiteX0" fmla="*/ 519380 w 9143999"/>
              <a:gd name="connsiteY0" fmla="*/ 950387 h 3601965"/>
              <a:gd name="connsiteX1" fmla="*/ 9143999 w 9143999"/>
              <a:gd name="connsiteY1" fmla="*/ 3101471 h 3601965"/>
              <a:gd name="connsiteX2" fmla="*/ 9143999 w 9143999"/>
              <a:gd name="connsiteY2" fmla="*/ 3601512 h 3601965"/>
              <a:gd name="connsiteX3" fmla="*/ 0 w 9143999"/>
              <a:gd name="connsiteY3" fmla="*/ 3601965 h 3601965"/>
              <a:gd name="connsiteX4" fmla="*/ 519380 w 9143999"/>
              <a:gd name="connsiteY4" fmla="*/ 950387 h 3601965"/>
              <a:gd name="connsiteX0" fmla="*/ 4233 w 8628852"/>
              <a:gd name="connsiteY0" fmla="*/ 950387 h 3601965"/>
              <a:gd name="connsiteX1" fmla="*/ 8628852 w 8628852"/>
              <a:gd name="connsiteY1" fmla="*/ 3101471 h 3601965"/>
              <a:gd name="connsiteX2" fmla="*/ 8628852 w 8628852"/>
              <a:gd name="connsiteY2" fmla="*/ 3601512 h 3601965"/>
              <a:gd name="connsiteX3" fmla="*/ 4234 w 8628852"/>
              <a:gd name="connsiteY3" fmla="*/ 3601965 h 3601965"/>
              <a:gd name="connsiteX4" fmla="*/ 4233 w 8628852"/>
              <a:gd name="connsiteY4" fmla="*/ 950387 h 360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8852" h="3601965">
                <a:moveTo>
                  <a:pt x="4233" y="950387"/>
                </a:moveTo>
                <a:cubicBezTo>
                  <a:pt x="3484590" y="0"/>
                  <a:pt x="6874061" y="840300"/>
                  <a:pt x="8628852" y="3101471"/>
                </a:cubicBezTo>
                <a:lnTo>
                  <a:pt x="8628852" y="3601512"/>
                </a:lnTo>
                <a:lnTo>
                  <a:pt x="4234" y="3601965"/>
                </a:lnTo>
                <a:cubicBezTo>
                  <a:pt x="8467" y="2729898"/>
                  <a:pt x="0" y="1822454"/>
                  <a:pt x="4233" y="95038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49524" name="Rectangle 4"/>
          <p:cNvSpPr>
            <a:spLocks noChangeArrowheads="1"/>
          </p:cNvSpPr>
          <p:nvPr/>
        </p:nvSpPr>
        <p:spPr bwMode="gray">
          <a:xfrm>
            <a:off x="403225" y="3479800"/>
            <a:ext cx="681196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/>
          <a:lstStyle/>
          <a:p>
            <a:pPr algn="ctr">
              <a:defRPr/>
            </a:pPr>
            <a:r>
              <a:rPr lang="ko-KR" alt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울릉도M" pitchFamily="18" charset="-127"/>
                <a:ea typeface="HY울릉도M" pitchFamily="18" charset="-127"/>
              </a:rPr>
              <a:t>커피</a:t>
            </a:r>
            <a:r>
              <a:rPr lang="ko-KR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울릉도M" pitchFamily="18" charset="-127"/>
                <a:ea typeface="HY울릉도M" pitchFamily="18" charset="-127"/>
              </a:rPr>
              <a:t> 슬러지</a:t>
            </a:r>
            <a:r>
              <a:rPr lang="en-US" altLang="ko-KR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울릉도M" pitchFamily="18" charset="-127"/>
                <a:ea typeface="HY울릉도M" pitchFamily="18" charset="-127"/>
              </a:rPr>
              <a:t>찌꺼기</a:t>
            </a:r>
            <a:r>
              <a:rPr lang="en-US" altLang="ko-KR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울릉도M" pitchFamily="18" charset="-127"/>
                <a:ea typeface="HY울릉도M" pitchFamily="18" charset="-127"/>
              </a:rPr>
              <a:t>)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울릉도M" pitchFamily="18" charset="-127"/>
                <a:ea typeface="HY울릉도M" pitchFamily="18" charset="-127"/>
              </a:rPr>
              <a:t>를  활용한 </a:t>
            </a:r>
            <a:endParaRPr lang="en-US" altLang="ko-KR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울릉도M" pitchFamily="18" charset="-127"/>
              <a:ea typeface="HY울릉도M" pitchFamily="18" charset="-127"/>
            </a:endParaRPr>
          </a:p>
          <a:p>
            <a:pPr>
              <a:defRPr/>
            </a:pPr>
            <a:endParaRPr lang="en-US" altLang="ko-KR" sz="2400" b="1" dirty="0">
              <a:solidFill>
                <a:schemeClr val="accent1">
                  <a:lumMod val="75000"/>
                </a:schemeClr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49538" name="Rectangle 5"/>
          <p:cNvSpPr>
            <a:spLocks noChangeArrowheads="1"/>
          </p:cNvSpPr>
          <p:nvPr/>
        </p:nvSpPr>
        <p:spPr bwMode="gray">
          <a:xfrm>
            <a:off x="2571736" y="5429264"/>
            <a:ext cx="4098936" cy="5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ctr">
              <a:defRPr/>
            </a:pPr>
            <a:r>
              <a:rPr lang="ko-KR" altLang="ko-KR" noProof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20</a:t>
            </a:r>
            <a:r>
              <a:rPr lang="en-US" altLang="ko-KR" noProof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25.  12.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  </a:t>
            </a:r>
            <a:endParaRPr lang="en-US" altLang="ko-KR" dirty="0">
              <a:latin typeface="+mj-lt"/>
            </a:endParaRPr>
          </a:p>
        </p:txBody>
      </p:sp>
      <p:sp>
        <p:nvSpPr>
          <p:cNvPr id="149537" name="Rectangle 5"/>
          <p:cNvSpPr>
            <a:spLocks noChangeArrowheads="1"/>
          </p:cNvSpPr>
          <p:nvPr/>
        </p:nvSpPr>
        <p:spPr bwMode="gray">
          <a:xfrm>
            <a:off x="2928926" y="6072206"/>
            <a:ext cx="405765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ctr">
              <a:defRPr/>
            </a:pPr>
            <a:r>
              <a:rPr lang="ko-KR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주식회사  이 열 </a:t>
            </a:r>
            <a:endParaRPr lang="ko-KR" altLang="en-US" sz="2400" b="1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gray">
          <a:xfrm>
            <a:off x="650846" y="4221088"/>
            <a:ext cx="8493154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/>
          <a:lstStyle/>
          <a:p>
            <a:pPr algn="ctr">
              <a:defRPr/>
            </a:pPr>
            <a:r>
              <a:rPr lang="ko-KR" altLang="en-US" sz="3200" b="1" dirty="0">
                <a:solidFill>
                  <a:schemeClr val="accent5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친환경 자원화 사업  </a:t>
            </a:r>
            <a:r>
              <a:rPr lang="ko-KR" altLang="en-US" sz="3200" b="1" dirty="0">
                <a:solidFill>
                  <a:schemeClr val="accent5">
                    <a:lumMod val="50000"/>
                  </a:schemeClr>
                </a:solidFill>
                <a:latin typeface="HY울릉도M" pitchFamily="18" charset="-127"/>
                <a:ea typeface="HY울릉도M" pitchFamily="18" charset="-127"/>
              </a:rPr>
              <a:t>계획서</a:t>
            </a:r>
            <a:endParaRPr lang="en-US" altLang="ko-KR" sz="3200" b="1" dirty="0">
              <a:solidFill>
                <a:schemeClr val="accent5">
                  <a:lumMod val="50000"/>
                </a:schemeClr>
              </a:solidFill>
              <a:latin typeface="HY울릉도M" pitchFamily="18" charset="-127"/>
              <a:ea typeface="HY울릉도M" pitchFamily="18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23649E3-5897-4229-BFD3-D58C8EE00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145520"/>
              </p:ext>
            </p:extLst>
          </p:nvPr>
        </p:nvGraphicFramePr>
        <p:xfrm>
          <a:off x="1043608" y="940802"/>
          <a:ext cx="7560840" cy="615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61564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6302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485292" y="2204864"/>
            <a:ext cx="8263172" cy="33123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1.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법   인   명  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 (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주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 열 </a:t>
            </a:r>
            <a:endParaRPr lang="en-US" altLang="ko-KR" sz="1600" dirty="0">
              <a:solidFill>
                <a:srgbClr val="0A0C1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2.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 표 이 사  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 기 열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3.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설   립   일  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 2008. 4. 7.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4.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자   본   금  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 2,500,000,000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원</a:t>
            </a:r>
            <a:endParaRPr lang="en-US" altLang="ko-KR" sz="1600" dirty="0">
              <a:solidFill>
                <a:srgbClr val="0A0C1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5.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본         사  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서울시  서초구 </a:t>
            </a:r>
            <a:r>
              <a:rPr lang="ko-KR" altLang="en-US" sz="1600" dirty="0" err="1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논현로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7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길 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16, (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양재동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보연빌딩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600" dirty="0">
              <a:solidFill>
                <a:srgbClr val="0A0C1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6.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 구 소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: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경기도 화성시 </a:t>
            </a:r>
            <a:r>
              <a:rPr lang="ko-KR" altLang="en-US" sz="1600" dirty="0" err="1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서신면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600" dirty="0" err="1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염전길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30-5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7. 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홈 </a:t>
            </a:r>
            <a:r>
              <a:rPr lang="ko-KR" altLang="en-US" sz="1600" dirty="0" err="1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페</a:t>
            </a:r>
            <a:r>
              <a:rPr lang="ko-KR" altLang="en-US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이 지</a:t>
            </a:r>
            <a:r>
              <a:rPr lang="en-US" altLang="ko-KR" sz="1600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  <a:r>
              <a:rPr lang="en-US" altLang="ko-KR" sz="1600" b="1" dirty="0">
                <a:solidFill>
                  <a:srgbClr val="0A0C1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en-US" altLang="ko-KR" sz="1600" b="1" dirty="0">
                <a:solidFill>
                  <a:srgbClr val="1206F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http://leeyeol.com/</a:t>
            </a:r>
            <a:endParaRPr lang="en-US" altLang="ko-KR" sz="1400" b="1" dirty="0">
              <a:solidFill>
                <a:srgbClr val="1206F8"/>
              </a:solidFill>
            </a:endParaRPr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6509" y="816007"/>
            <a:ext cx="5705475" cy="7778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</a:t>
            </a:r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회사 소개 </a:t>
            </a:r>
            <a: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[</a:t>
            </a:r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회사개요</a:t>
            </a:r>
            <a: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]</a:t>
            </a:r>
            <a:b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3888" y="6616940"/>
            <a:ext cx="6408712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altLang="ko-KR" dirty="0">
                <a:solidFill>
                  <a:srgbClr val="0A0C10"/>
                </a:solidFill>
              </a:rPr>
              <a:t>  </a:t>
            </a:r>
            <a:endParaRPr lang="ko-KR" altLang="en-US" sz="1400" b="1" dirty="0">
              <a:latin typeface="HY견고딕" pitchFamily="18" charset="-127"/>
              <a:ea typeface="HY견고딕" pitchFamily="18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831B76-1E3E-7F4E-A97E-FA2C409C52F1}"/>
              </a:ext>
            </a:extLst>
          </p:cNvPr>
          <p:cNvGraphicFramePr>
            <a:graphicFrameLocks noGrp="1"/>
          </p:cNvGraphicFramePr>
          <p:nvPr/>
        </p:nvGraphicFramePr>
        <p:xfrm>
          <a:off x="5940152" y="332656"/>
          <a:ext cx="2941953" cy="39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51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39052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  <p:sp>
        <p:nvSpPr>
          <p:cNvPr id="8" name="모서리가 둥근 직사각형 5">
            <a:extLst>
              <a:ext uri="{FF2B5EF4-FFF2-40B4-BE49-F238E27FC236}">
                <a16:creationId xmlns:a16="http://schemas.microsoft.com/office/drawing/2014/main" id="{19254E32-2A7D-412E-889D-F08268E7C858}"/>
              </a:ext>
            </a:extLst>
          </p:cNvPr>
          <p:cNvSpPr/>
          <p:nvPr/>
        </p:nvSpPr>
        <p:spPr>
          <a:xfrm>
            <a:off x="546854" y="5630982"/>
            <a:ext cx="8263172" cy="8640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r>
              <a:rPr lang="ko-KR" altLang="en-US" sz="1600" b="1" dirty="0">
                <a:solidFill>
                  <a:srgbClr val="0A0C10"/>
                </a:solidFill>
              </a:rPr>
              <a:t>관계회사 </a:t>
            </a:r>
            <a:r>
              <a:rPr lang="en-US" altLang="ko-KR" sz="1600" b="1" dirty="0">
                <a:solidFill>
                  <a:srgbClr val="0A0C10"/>
                </a:solidFill>
              </a:rPr>
              <a:t>: </a:t>
            </a:r>
            <a:r>
              <a:rPr lang="ko-KR" altLang="en-US" sz="1600" b="1" dirty="0">
                <a:solidFill>
                  <a:srgbClr val="0A0C10"/>
                </a:solidFill>
              </a:rPr>
              <a:t>㈜ </a:t>
            </a:r>
            <a:r>
              <a:rPr lang="ko-KR" altLang="en-US" sz="1600" b="1" dirty="0" err="1">
                <a:solidFill>
                  <a:srgbClr val="0A0C10"/>
                </a:solidFill>
              </a:rPr>
              <a:t>이열알앤디</a:t>
            </a:r>
            <a:r>
              <a:rPr lang="ko-KR" altLang="en-US" sz="1600" b="1" dirty="0">
                <a:solidFill>
                  <a:srgbClr val="0A0C10"/>
                </a:solidFill>
              </a:rPr>
              <a:t>    </a:t>
            </a:r>
            <a:r>
              <a:rPr lang="en-US" altLang="ko-KR" sz="1600" b="1" dirty="0">
                <a:solidFill>
                  <a:srgbClr val="0A0C1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en-US" altLang="ko-KR" sz="1600" b="1" dirty="0">
                <a:solidFill>
                  <a:srgbClr val="0A0C10"/>
                </a:solidFill>
              </a:rPr>
              <a:t> </a:t>
            </a:r>
            <a:r>
              <a:rPr lang="ko-KR" altLang="en-US" sz="1600" b="1" dirty="0">
                <a:solidFill>
                  <a:srgbClr val="0A0C10"/>
                </a:solidFill>
              </a:rPr>
              <a:t>㈜</a:t>
            </a:r>
            <a:r>
              <a:rPr lang="en-US" altLang="ko-KR" sz="1600" b="1" dirty="0">
                <a:solidFill>
                  <a:srgbClr val="0A0C10"/>
                </a:solidFill>
              </a:rPr>
              <a:t> </a:t>
            </a:r>
            <a:r>
              <a:rPr lang="ko-KR" altLang="en-US" sz="1600" b="1" dirty="0">
                <a:solidFill>
                  <a:srgbClr val="0A0C10"/>
                </a:solidFill>
              </a:rPr>
              <a:t> </a:t>
            </a:r>
            <a:r>
              <a:rPr lang="ko-KR" altLang="en-US" sz="1600" b="1" dirty="0" err="1">
                <a:solidFill>
                  <a:srgbClr val="0A0C10"/>
                </a:solidFill>
              </a:rPr>
              <a:t>중부에코너지</a:t>
            </a:r>
            <a:endParaRPr lang="en-US" altLang="ko-KR" sz="1600" b="1" dirty="0">
              <a:solidFill>
                <a:srgbClr val="0A0C1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E5FFB3-A405-4562-8ED5-67213552D552}"/>
              </a:ext>
            </a:extLst>
          </p:cNvPr>
          <p:cNvSpPr txBox="1"/>
          <p:nvPr/>
        </p:nvSpPr>
        <p:spPr>
          <a:xfrm>
            <a:off x="541376" y="2279746"/>
            <a:ext cx="8496944" cy="43704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HY울릉도M" pitchFamily="18" charset="-127"/>
                <a:ea typeface="HY울릉도M" pitchFamily="18" charset="-127"/>
              </a:rPr>
              <a:t>2023</a:t>
            </a:r>
            <a:r>
              <a:rPr lang="ko-KR" altLang="en-US" sz="1600" dirty="0">
                <a:latin typeface="HY울릉도M" pitchFamily="18" charset="-127"/>
                <a:ea typeface="HY울릉도M" pitchFamily="18" charset="-127"/>
              </a:rPr>
              <a:t>년 </a:t>
            </a:r>
            <a:r>
              <a:rPr lang="ko-KR" altLang="en-US" sz="1600" dirty="0">
                <a:solidFill>
                  <a:srgbClr val="0A0C10"/>
                </a:solidFill>
                <a:latin typeface="HY울릉도M" pitchFamily="18" charset="-127"/>
                <a:ea typeface="HY울릉도M" pitchFamily="18" charset="-127"/>
              </a:rPr>
              <a:t>한국중부발전에서 하수슬러지연료탄 구매 선호도 </a:t>
            </a:r>
            <a:r>
              <a:rPr lang="en-US" altLang="ko-KR" sz="1600" dirty="0">
                <a:solidFill>
                  <a:srgbClr val="0A0C10"/>
                </a:solidFill>
                <a:latin typeface="HY울릉도M" pitchFamily="18" charset="-127"/>
                <a:ea typeface="HY울릉도M" pitchFamily="18" charset="-127"/>
              </a:rPr>
              <a:t>1</a:t>
            </a:r>
            <a:r>
              <a:rPr lang="ko-KR" altLang="en-US" sz="1600" dirty="0">
                <a:solidFill>
                  <a:srgbClr val="0A0C10"/>
                </a:solidFill>
                <a:latin typeface="HY울릉도M" pitchFamily="18" charset="-127"/>
                <a:ea typeface="HY울릉도M" pitchFamily="18" charset="-127"/>
              </a:rPr>
              <a:t>위</a:t>
            </a:r>
            <a:endParaRPr lang="en-US" altLang="ko-KR" sz="1600" dirty="0">
              <a:solidFill>
                <a:srgbClr val="FF0000"/>
              </a:solidFill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9900"/>
                </a:solidFill>
                <a:latin typeface="HY울릉도M" pitchFamily="18" charset="-127"/>
                <a:ea typeface="HY울릉도M" pitchFamily="18" charset="-127"/>
              </a:rPr>
              <a:t>2023</a:t>
            </a:r>
            <a:r>
              <a:rPr lang="ko-KR" altLang="en-US" sz="1600" dirty="0">
                <a:solidFill>
                  <a:srgbClr val="009900"/>
                </a:solidFill>
                <a:latin typeface="HY울릉도M" pitchFamily="18" charset="-127"/>
                <a:ea typeface="HY울릉도M" pitchFamily="18" charset="-127"/>
              </a:rPr>
              <a:t>년 ▶한전엠씨에스와 신재생에너지분야 공동화 사업</a:t>
            </a:r>
            <a:r>
              <a:rPr lang="en-US" altLang="ko-KR" sz="1600" dirty="0">
                <a:solidFill>
                  <a:srgbClr val="009900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600" dirty="0">
                <a:solidFill>
                  <a:srgbClr val="009900"/>
                </a:solidFill>
                <a:latin typeface="HY울릉도M" pitchFamily="18" charset="-127"/>
                <a:ea typeface="HY울릉도M" pitchFamily="18" charset="-127"/>
              </a:rPr>
              <a:t>판매 등</a:t>
            </a:r>
            <a:r>
              <a:rPr lang="en-US" altLang="ko-KR" sz="1600" dirty="0">
                <a:solidFill>
                  <a:srgbClr val="009900"/>
                </a:solidFill>
                <a:latin typeface="HY울릉도M" pitchFamily="18" charset="-127"/>
                <a:ea typeface="HY울릉도M" pitchFamily="18" charset="-127"/>
              </a:rPr>
              <a:t>) </a:t>
            </a:r>
            <a:r>
              <a:rPr lang="ko-KR" altLang="en-US" sz="1600" dirty="0">
                <a:solidFill>
                  <a:srgbClr val="009900"/>
                </a:solidFill>
                <a:latin typeface="HY울릉도M" pitchFamily="18" charset="-127"/>
                <a:ea typeface="HY울릉도M" pitchFamily="18" charset="-127"/>
              </a:rPr>
              <a:t>협약 </a:t>
            </a:r>
            <a:r>
              <a:rPr lang="en-US" altLang="ko-KR" sz="1600" dirty="0">
                <a:solidFill>
                  <a:srgbClr val="009900"/>
                </a:solidFill>
                <a:latin typeface="HY울릉도M" pitchFamily="18" charset="-127"/>
                <a:ea typeface="HY울릉도M" pitchFamily="18" charset="-127"/>
              </a:rPr>
              <a:t>[MOA] </a:t>
            </a:r>
            <a:r>
              <a:rPr lang="ko-KR" altLang="en-US" sz="1600" dirty="0" err="1">
                <a:solidFill>
                  <a:srgbClr val="009900"/>
                </a:solidFill>
                <a:latin typeface="HY울릉도M" pitchFamily="18" charset="-127"/>
                <a:ea typeface="HY울릉도M" pitchFamily="18" charset="-127"/>
              </a:rPr>
              <a:t>이열알앤디</a:t>
            </a:r>
            <a:endParaRPr lang="en-US" altLang="ko-KR" sz="1600" dirty="0">
              <a:solidFill>
                <a:srgbClr val="009900"/>
              </a:solidFill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9900"/>
                </a:solidFill>
                <a:highlight>
                  <a:srgbClr val="FFFF00"/>
                </a:highlight>
                <a:latin typeface="HY울릉도M" pitchFamily="18" charset="-127"/>
                <a:ea typeface="HY울릉도M" pitchFamily="18" charset="-127"/>
              </a:rPr>
              <a:t>2025</a:t>
            </a:r>
            <a:r>
              <a:rPr lang="ko-KR" altLang="en-US" sz="1600" dirty="0">
                <a:solidFill>
                  <a:srgbClr val="009900"/>
                </a:solidFill>
                <a:highlight>
                  <a:srgbClr val="FFFF00"/>
                </a:highlight>
                <a:latin typeface="HY울릉도M" pitchFamily="18" charset="-127"/>
                <a:ea typeface="HY울릉도M" pitchFamily="18" charset="-127"/>
              </a:rPr>
              <a:t>년  사회적협동조합 자원과 순환 커피찌꺼기 공급 협약</a:t>
            </a:r>
            <a:r>
              <a:rPr lang="en-US" altLang="ko-KR" sz="1600" dirty="0">
                <a:solidFill>
                  <a:srgbClr val="009900"/>
                </a:solidFill>
                <a:highlight>
                  <a:srgbClr val="FFFF00"/>
                </a:highlight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600" dirty="0">
                <a:solidFill>
                  <a:srgbClr val="009900"/>
                </a:solidFill>
                <a:highlight>
                  <a:srgbClr val="FFFF00"/>
                </a:highlight>
                <a:latin typeface="HY울릉도M" pitchFamily="18" charset="-127"/>
                <a:ea typeface="HY울릉도M" pitchFamily="18" charset="-127"/>
              </a:rPr>
              <a:t>서울시 지자체 〮 동서식품 등</a:t>
            </a:r>
            <a:r>
              <a:rPr lang="en-US" altLang="ko-KR" sz="1600" dirty="0">
                <a:solidFill>
                  <a:srgbClr val="009900"/>
                </a:solidFill>
                <a:highlight>
                  <a:srgbClr val="FFFF00"/>
                </a:highlight>
                <a:latin typeface="HY울릉도M" pitchFamily="18" charset="-127"/>
                <a:ea typeface="HY울릉도M" pitchFamily="18" charset="-127"/>
              </a:rPr>
              <a:t>)</a:t>
            </a:r>
            <a:endParaRPr lang="en-US" altLang="ko-KR" sz="1600" dirty="0">
              <a:solidFill>
                <a:srgbClr val="009900"/>
              </a:solidFill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  <a:latin typeface="HY울릉도M" pitchFamily="18" charset="-127"/>
                <a:ea typeface="HY울릉도M" pitchFamily="18" charset="-127"/>
              </a:rPr>
              <a:t>★ </a:t>
            </a:r>
            <a:r>
              <a:rPr lang="ko-KR" altLang="en-US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새로운 신성장 동력산업 </a:t>
            </a:r>
            <a:r>
              <a:rPr lang="en-US" altLang="ko-KR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한국전력</a:t>
            </a:r>
            <a:r>
              <a:rPr lang="en-US" altLang="ko-KR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 = </a:t>
            </a:r>
            <a:r>
              <a:rPr lang="ko-KR" altLang="en-US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한전</a:t>
            </a:r>
            <a:r>
              <a:rPr lang="en-US" altLang="ko-KR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MCS · </a:t>
            </a:r>
            <a:r>
              <a:rPr lang="ko-KR" altLang="en-US" dirty="0" err="1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이열</a:t>
            </a:r>
            <a:r>
              <a:rPr lang="ko-KR" altLang="en-US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 공동사업</a:t>
            </a:r>
            <a:r>
              <a:rPr lang="en-US" altLang="ko-KR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)</a:t>
            </a:r>
            <a:r>
              <a:rPr lang="ko-KR" altLang="en-US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endParaRPr lang="en-US" altLang="ko-KR" dirty="0">
              <a:solidFill>
                <a:srgbClr val="009900"/>
              </a:solidFill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◆ </a:t>
            </a:r>
            <a:r>
              <a:rPr lang="ko-KR" altLang="en-US" sz="1600" dirty="0" err="1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커피슬러지</a:t>
            </a: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커피찌꺼기</a:t>
            </a:r>
            <a:r>
              <a:rPr lang="en-US" altLang="ko-KR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)</a:t>
            </a: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                 </a:t>
            </a:r>
            <a:r>
              <a:rPr lang="ko-KR" altLang="en-US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☞</a:t>
            </a: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   자원화 </a:t>
            </a:r>
            <a:r>
              <a:rPr lang="en-US" altLang="ko-KR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• </a:t>
            </a: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연료화 </a:t>
            </a:r>
            <a:r>
              <a:rPr lang="en-US" altLang="ko-KR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</a:t>
            </a: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 비료화 </a:t>
            </a:r>
            <a:r>
              <a:rPr lang="en-US" altLang="ko-KR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소재화</a:t>
            </a:r>
            <a:endParaRPr lang="en-US" altLang="ko-KR" sz="1600" dirty="0">
              <a:solidFill>
                <a:srgbClr val="1206F8"/>
              </a:solidFill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◆ </a:t>
            </a:r>
            <a:r>
              <a:rPr lang="ko-KR" altLang="en-US" sz="1600" dirty="0" err="1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하수슬러지</a:t>
            </a:r>
            <a:r>
              <a:rPr lang="en-US" altLang="ko-KR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(Sludge) + </a:t>
            </a: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커피찌꺼기     </a:t>
            </a:r>
            <a:r>
              <a:rPr lang="ko-KR" altLang="en-US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☞   발전소 고형연료 </a:t>
            </a:r>
            <a:r>
              <a:rPr lang="en-US" altLang="ko-KR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바이오매스</a:t>
            </a:r>
            <a:r>
              <a:rPr lang="en-US" altLang="ko-KR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600" dirty="0">
              <a:solidFill>
                <a:srgbClr val="1206F8"/>
              </a:solidFill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◆ 가축분뇨 </a:t>
            </a:r>
            <a:r>
              <a:rPr lang="en-US" altLang="ko-KR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600" dirty="0" err="1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우분</a:t>
            </a:r>
            <a:r>
              <a:rPr lang="en-US" altLang="ko-KR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/</a:t>
            </a:r>
            <a:r>
              <a:rPr lang="ko-KR" altLang="en-US" sz="1600" dirty="0" err="1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돈분</a:t>
            </a:r>
            <a:r>
              <a:rPr lang="en-US" altLang="ko-KR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) + </a:t>
            </a:r>
            <a:r>
              <a:rPr lang="ko-KR" altLang="en-US" sz="1600" dirty="0">
                <a:solidFill>
                  <a:srgbClr val="1206F8"/>
                </a:solidFill>
                <a:latin typeface="HY울릉도M" pitchFamily="18" charset="-127"/>
                <a:ea typeface="HY울릉도M" pitchFamily="18" charset="-127"/>
              </a:rPr>
              <a:t>커피찌꺼기   </a:t>
            </a:r>
            <a:r>
              <a:rPr lang="ko-KR" altLang="en-US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☞   발전소 고형연료 </a:t>
            </a:r>
            <a:r>
              <a:rPr lang="en-US" altLang="ko-KR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연탄대체 </a:t>
            </a:r>
            <a:r>
              <a:rPr lang="en-US" altLang="ko-KR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비닐하우스</a:t>
            </a:r>
            <a:r>
              <a:rPr lang="en-US" altLang="ko-KR" sz="1600" dirty="0">
                <a:solidFill>
                  <a:srgbClr val="1206F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1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1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생활폐기물로 소각 </a:t>
            </a:r>
            <a:r>
              <a:rPr lang="en-US" altLang="ko-KR" sz="1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매립되는 커피찌꺼기를 모아 고형연료화  </a:t>
            </a:r>
            <a:r>
              <a:rPr lang="en-US" altLang="ko-KR" sz="1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차사업</a:t>
            </a:r>
            <a:r>
              <a:rPr lang="ko-KR" altLang="en-US" sz="1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800" dirty="0">
              <a:solidFill>
                <a:srgbClr val="FF0000"/>
              </a:solidFill>
              <a:latin typeface="Bauhaus 93" panose="04030905020B02020C02" pitchFamily="82" charset="0"/>
              <a:ea typeface="HY울릉도M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   “</a:t>
            </a:r>
            <a:r>
              <a:rPr lang="ko-KR" altLang="en-US" sz="1800" dirty="0">
                <a:solidFill>
                  <a:srgbClr val="FF0000"/>
                </a:solidFill>
                <a:latin typeface="Bauhaus 93" panose="04030905020B02020C02" pitchFamily="82" charset="0"/>
                <a:ea typeface="HY울릉도M" pitchFamily="18" charset="-127"/>
              </a:rPr>
              <a:t>쓰레기는 없다</a:t>
            </a:r>
            <a:r>
              <a:rPr lang="en-US" altLang="ko-KR" sz="1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”no trash    </a:t>
            </a:r>
            <a:r>
              <a:rPr lang="ko-KR" altLang="en-US" sz="18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주식회사 </a:t>
            </a:r>
            <a:r>
              <a:rPr lang="ko-KR" altLang="en-US" sz="1800" dirty="0" err="1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이열이</a:t>
            </a:r>
            <a:r>
              <a:rPr lang="ko-KR" altLang="en-US" sz="18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시작합니다</a:t>
            </a:r>
            <a:r>
              <a:rPr lang="en-US" altLang="ko-KR" sz="18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solidFill>
                <a:srgbClr val="1206F8"/>
              </a:solidFill>
            </a:endParaRPr>
          </a:p>
          <a:p>
            <a:pPr algn="ctr"/>
            <a:r>
              <a:rPr lang="ko-KR" altLang="en-US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홈페이지   </a:t>
            </a:r>
            <a:r>
              <a:rPr lang="en-US" altLang="ko-KR" dirty="0">
                <a:solidFill>
                  <a:srgbClr val="0A0C10"/>
                </a:solidFill>
              </a:rPr>
              <a:t>http: </a:t>
            </a:r>
            <a:r>
              <a:rPr lang="en-US" altLang="ko-KR" dirty="0">
                <a:solidFill>
                  <a:srgbClr val="0A0C10"/>
                </a:solidFill>
                <a:hlinkClick r:id="rId2"/>
              </a:rPr>
              <a:t>www.leeyeol.com</a:t>
            </a:r>
            <a:r>
              <a:rPr lang="en-US" altLang="ko-KR" dirty="0">
                <a:solidFill>
                  <a:srgbClr val="0A0C10"/>
                </a:solidFill>
              </a:rPr>
              <a:t> </a:t>
            </a:r>
            <a:endParaRPr lang="en-US" altLang="ko-KR" sz="1800" b="1" dirty="0">
              <a:solidFill>
                <a:srgbClr val="0A0C1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FDC0DD5-6A7D-4FF0-8890-84AAB460687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509" y="816007"/>
            <a:ext cx="5705475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회사 소개 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[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주요사업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]</a:t>
            </a:r>
            <a:b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1D3DFC-88D5-4203-8063-F9DC8A473862}"/>
              </a:ext>
            </a:extLst>
          </p:cNvPr>
          <p:cNvGraphicFramePr>
            <a:graphicFrameLocks noGrp="1"/>
          </p:cNvGraphicFramePr>
          <p:nvPr/>
        </p:nvGraphicFramePr>
        <p:xfrm>
          <a:off x="5940152" y="332656"/>
          <a:ext cx="2941953" cy="39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51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39052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15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Rectangle 2">
            <a:extLst>
              <a:ext uri="{FF2B5EF4-FFF2-40B4-BE49-F238E27FC236}">
                <a16:creationId xmlns:a16="http://schemas.microsoft.com/office/drawing/2014/main" id="{CA38EAF6-89FD-EC5D-8320-79E72E4C8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6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buClr>
                <a:schemeClr val="accent1"/>
              </a:buClr>
              <a:buChar char="-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buClr>
                <a:schemeClr val="accent1"/>
              </a:buClr>
              <a:buChar char="-"/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buClr>
                <a:schemeClr val="accent1"/>
              </a:buClr>
              <a:buChar char="-"/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800" dirty="0">
              <a:latin typeface="Arial" panose="020B0604020202020204" pitchFamily="34" charset="0"/>
              <a:ea typeface="HY울릉도M" pitchFamily="18" charset="-127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4DD7F01-D609-8DBC-E7BE-E771E6CEB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7ED342F-28F8-C8B8-3818-91A7D0E26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41DFEE76-C479-4013-253C-D23125B86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56C543F-2F05-2962-96A8-6565B1275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927320"/>
              </p:ext>
            </p:extLst>
          </p:nvPr>
        </p:nvGraphicFramePr>
        <p:xfrm>
          <a:off x="270346" y="2204863"/>
          <a:ext cx="3941613" cy="4500737"/>
        </p:xfrm>
        <a:graphic>
          <a:graphicData uri="http://schemas.openxmlformats.org/drawingml/2006/table">
            <a:tbl>
              <a:tblPr/>
              <a:tblGrid>
                <a:gridCol w="237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4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16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6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86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9779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신재생에너지 분야 업무협력 강화를 위한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공동 협약서 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( M O A )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주식회사</a:t>
                      </a:r>
                      <a:r>
                        <a:rPr lang="ko-KR" altLang="en-US" sz="800" b="1" kern="0" spc="2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한전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MCS(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)(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 한전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MCS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 함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주식회사 이열알앤디</a:t>
                      </a:r>
                      <a:r>
                        <a:rPr lang="en-US" altLang="ko-KR" sz="800" b="1" kern="0" spc="-8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kern="0" spc="-8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8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이열이라 함</a:t>
                      </a:r>
                      <a:r>
                        <a:rPr lang="en-US" altLang="ko-KR" sz="800" b="1" kern="0" spc="-8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kern="0" spc="-8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탄소배출 저감을 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통한 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ESG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 실천을 위하여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신의 성실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원칙에 입각하여 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다음과 같이 업무 협약을 체결한다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lang="en-US" altLang="ko-KR" sz="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 </a:t>
                      </a:r>
                      <a:r>
                        <a:rPr lang="en-US" altLang="ko-KR" sz="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목적</a:t>
                      </a:r>
                      <a:r>
                        <a:rPr lang="en-US" altLang="ko-KR" sz="8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kern="0" spc="-60" dirty="0">
                          <a:solidFill>
                            <a:srgbClr val="000000"/>
                          </a:solidFill>
                          <a:effectLst/>
                          <a:latin typeface="바탕" panose="02030600000101010101" pitchFamily="18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협약의 목적은 한전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MCS(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이열알앤디간의 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endParaRPr lang="en-US" altLang="ko-KR" sz="800" b="1" kern="0" spc="-3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체결된 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MOU(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양해각서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후속으로 본격적인 하수슬러지를 활용</a:t>
                      </a:r>
                      <a:endParaRPr lang="en-US" altLang="ko-KR" sz="800" b="1" kern="0" spc="-3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 연료탄제조 및 판매를 통한 공동이익 증진 도모를 위하여 각 기관의의 </a:t>
                      </a:r>
                      <a:endParaRPr lang="en-US" altLang="ko-KR" sz="800" b="1" kern="0" spc="-3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권리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의무를 정하고자 함에 있다</a:t>
                      </a: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214630" marR="0" indent="-21463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1" kern="0" spc="-3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. . . . . . . . . . . . . . . . . . . . . . . . . . . . . . . . . . . . . . . . . . . . . . . . 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 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서명문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1" kern="0" spc="-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기관은 신의 성실의 원칙에 입각해 본 협약을 수행하도록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하며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협약을 증명하기 위하여 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부를 작성 날인하여 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부씩 보관한다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  <a:p>
                      <a:pPr marL="95250" marR="0" indent="-9525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800" b="1" kern="0" spc="-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00" kern="0" spc="-8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  <a:ea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-8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9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>
                      <a:noFill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16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3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0383" marR="10383" marT="10388" marB="10388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0416" name="그림 3">
            <a:extLst>
              <a:ext uri="{FF2B5EF4-FFF2-40B4-BE49-F238E27FC236}">
                <a16:creationId xmlns:a16="http://schemas.microsoft.com/office/drawing/2014/main" id="{16A6304A-C7C9-FB94-E410-EA3137687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5094288"/>
            <a:ext cx="26765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417" name="TextBox 7">
            <a:extLst>
              <a:ext uri="{FF2B5EF4-FFF2-40B4-BE49-F238E27FC236}">
                <a16:creationId xmlns:a16="http://schemas.microsoft.com/office/drawing/2014/main" id="{AB37FF9C-FD57-414D-4AE7-677D5FBD2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6" y="2241709"/>
            <a:ext cx="4378517" cy="4427046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9pPr>
          </a:lstStyle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1206F8"/>
                </a:solidFill>
                <a:latin typeface="HY울릉도M" pitchFamily="18" charset="-127"/>
              </a:rPr>
              <a:t>◆ </a:t>
            </a:r>
            <a:r>
              <a:rPr lang="ko-KR" altLang="en-US" sz="1400" b="1" dirty="0" err="1">
                <a:solidFill>
                  <a:srgbClr val="0000FF"/>
                </a:solidFill>
                <a:latin typeface="HY울릉도M" pitchFamily="18" charset="-127"/>
              </a:rPr>
              <a:t>한전엠씨에스</a:t>
            </a:r>
            <a:r>
              <a:rPr lang="ko-KR" altLang="en-US" sz="1400" b="1" dirty="0">
                <a:solidFill>
                  <a:srgbClr val="0000FF"/>
                </a:solidFill>
                <a:latin typeface="HY울릉도M" pitchFamily="18" charset="-127"/>
              </a:rPr>
              <a:t> </a:t>
            </a:r>
            <a:r>
              <a:rPr lang="en-US" altLang="ko-KR" sz="1400" b="1" dirty="0">
                <a:solidFill>
                  <a:srgbClr val="0000FF"/>
                </a:solidFill>
                <a:latin typeface="HY울릉도M" pitchFamily="18" charset="-127"/>
              </a:rPr>
              <a:t>: </a:t>
            </a:r>
            <a:r>
              <a:rPr lang="ko-KR" altLang="en-US" sz="1400" dirty="0">
                <a:solidFill>
                  <a:srgbClr val="0000FF"/>
                </a:solidFill>
                <a:latin typeface="HY울릉도M" pitchFamily="18" charset="-127"/>
              </a:rPr>
              <a:t>공공기관 </a:t>
            </a:r>
            <a:r>
              <a:rPr lang="en-US" altLang="ko-KR" sz="1400" dirty="0">
                <a:solidFill>
                  <a:srgbClr val="0000FF"/>
                </a:solidFill>
                <a:latin typeface="Bauhaus 93" panose="04030905020B02020C02" pitchFamily="82" charset="0"/>
              </a:rPr>
              <a:t> | </a:t>
            </a:r>
            <a:r>
              <a:rPr lang="ko-KR" altLang="en-US" sz="1400" dirty="0">
                <a:solidFill>
                  <a:srgbClr val="0000FF"/>
                </a:solidFill>
                <a:latin typeface="Bauhaus 93" panose="04030905020B02020C02" pitchFamily="82" charset="0"/>
              </a:rPr>
              <a:t>주주</a:t>
            </a:r>
            <a:r>
              <a:rPr lang="en-US" altLang="ko-KR" sz="1400" dirty="0">
                <a:solidFill>
                  <a:srgbClr val="0000FF"/>
                </a:solidFill>
                <a:latin typeface="Bauhaus 93" panose="04030905020B02020C02" pitchFamily="82" charset="0"/>
              </a:rPr>
              <a:t> : </a:t>
            </a:r>
            <a:r>
              <a:rPr lang="ko-KR" altLang="en-US" sz="1400" dirty="0">
                <a:solidFill>
                  <a:srgbClr val="0000FF"/>
                </a:solidFill>
                <a:latin typeface="Bauhaus 93" panose="04030905020B02020C02" pitchFamily="82" charset="0"/>
              </a:rPr>
              <a:t>한국전력 </a:t>
            </a:r>
            <a:r>
              <a:rPr lang="en-US" altLang="ko-KR" sz="1400" dirty="0">
                <a:solidFill>
                  <a:srgbClr val="0000FF"/>
                </a:solidFill>
                <a:latin typeface="Bauhaus 93" panose="04030905020B02020C02" pitchFamily="82" charset="0"/>
              </a:rPr>
              <a:t>100% </a:t>
            </a:r>
          </a:p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0000FF"/>
                </a:solidFill>
                <a:latin typeface="Bauhaus 93" panose="04030905020B02020C02" pitchFamily="82" charset="0"/>
              </a:rPr>
              <a:t>                 </a:t>
            </a:r>
            <a:r>
              <a:rPr lang="en-US" altLang="ko-KR" sz="1400" dirty="0">
                <a:solidFill>
                  <a:srgbClr val="0000FF"/>
                </a:solidFill>
                <a:latin typeface="Bauhaus 93" panose="04030905020B02020C02" pitchFamily="82" charset="0"/>
              </a:rPr>
              <a:t>| </a:t>
            </a:r>
            <a:r>
              <a:rPr lang="ko-KR" altLang="en-US" sz="1400" dirty="0">
                <a:solidFill>
                  <a:srgbClr val="0000FF"/>
                </a:solidFill>
                <a:latin typeface="Bauhaus 93" panose="04030905020B02020C02" pitchFamily="82" charset="0"/>
              </a:rPr>
              <a:t>매출액 </a:t>
            </a:r>
            <a:r>
              <a:rPr lang="en-US" altLang="ko-KR" sz="1400" dirty="0">
                <a:solidFill>
                  <a:srgbClr val="0000FF"/>
                </a:solidFill>
                <a:latin typeface="Abadi" panose="020B0604020202020204" pitchFamily="34" charset="0"/>
              </a:rPr>
              <a:t>3,071</a:t>
            </a:r>
            <a:r>
              <a:rPr lang="ko-KR" altLang="en-US" sz="1400" dirty="0">
                <a:solidFill>
                  <a:srgbClr val="0000FF"/>
                </a:solidFill>
                <a:latin typeface="Abadi" panose="020B0604020202020204" pitchFamily="34" charset="0"/>
              </a:rPr>
              <a:t>억 </a:t>
            </a:r>
            <a:r>
              <a:rPr lang="en-US" altLang="ko-KR" sz="1400" dirty="0">
                <a:solidFill>
                  <a:srgbClr val="0000FF"/>
                </a:solidFill>
                <a:latin typeface="Abadi" panose="020B0604020202020204" pitchFamily="34" charset="0"/>
              </a:rPr>
              <a:t>’23</a:t>
            </a:r>
            <a:r>
              <a:rPr lang="ko-KR" altLang="en-US" sz="1400" dirty="0" err="1">
                <a:solidFill>
                  <a:srgbClr val="0000FF"/>
                </a:solidFill>
                <a:latin typeface="Abadi" panose="020B0604020202020204" pitchFamily="34" charset="0"/>
              </a:rPr>
              <a:t>년기준</a:t>
            </a:r>
            <a:r>
              <a:rPr lang="en-US" altLang="ko-KR" sz="1400" dirty="0">
                <a:solidFill>
                  <a:srgbClr val="0000FF"/>
                </a:solidFill>
                <a:latin typeface="Abadi" panose="020B0604020202020204" pitchFamily="34" charset="0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Bauhaus 93" panose="04030905020B02020C02" pitchFamily="82" charset="0"/>
              </a:rPr>
              <a:t>| </a:t>
            </a:r>
            <a:r>
              <a:rPr lang="ko-KR" altLang="en-US" sz="1400" dirty="0">
                <a:solidFill>
                  <a:srgbClr val="0000FF"/>
                </a:solidFill>
                <a:latin typeface="Bauhaus 93" panose="04030905020B02020C02" pitchFamily="82" charset="0"/>
              </a:rPr>
              <a:t>직원 </a:t>
            </a:r>
            <a:r>
              <a:rPr lang="en-US" altLang="ko-KR" sz="1400" dirty="0">
                <a:solidFill>
                  <a:srgbClr val="0000FF"/>
                </a:solidFill>
                <a:latin typeface="Abadi Extra Light" panose="020B0604020202020204" pitchFamily="34" charset="0"/>
              </a:rPr>
              <a:t>4,437</a:t>
            </a:r>
            <a:r>
              <a:rPr lang="ko-KR" altLang="en-US" sz="1400" dirty="0">
                <a:solidFill>
                  <a:srgbClr val="0000FF"/>
                </a:solidFill>
                <a:latin typeface="Bauhaus 93" panose="04030905020B02020C02" pitchFamily="82" charset="0"/>
              </a:rPr>
              <a:t>명</a:t>
            </a:r>
            <a:endParaRPr lang="en-US" altLang="ko-KR" sz="1400" dirty="0">
              <a:solidFill>
                <a:srgbClr val="0000FF"/>
              </a:solidFill>
              <a:latin typeface="Bauhaus 93" panose="04030905020B02020C02" pitchFamily="82" charset="0"/>
            </a:endParaRPr>
          </a:p>
          <a:p>
            <a:pPr>
              <a:lnSpc>
                <a:spcPct val="130000"/>
              </a:lnSpc>
            </a:pPr>
            <a:endParaRPr lang="en-US" altLang="ko-KR" sz="1400" dirty="0">
              <a:solidFill>
                <a:srgbClr val="FF0000"/>
              </a:solidFill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HY울릉도M" pitchFamily="18" charset="-127"/>
              </a:rPr>
              <a:t>      </a:t>
            </a:r>
            <a:r>
              <a:rPr lang="en-US" altLang="ko-KR" sz="1400" dirty="0">
                <a:latin typeface="HY울릉도M" pitchFamily="18" charset="-127"/>
              </a:rPr>
              <a:t>[</a:t>
            </a:r>
            <a:r>
              <a:rPr lang="ko-KR" altLang="en-US" sz="1400" b="1" dirty="0">
                <a:solidFill>
                  <a:srgbClr val="FF0000"/>
                </a:solidFill>
                <a:latin typeface="HY울릉도M" pitchFamily="18" charset="-127"/>
              </a:rPr>
              <a:t>하수슬러지연료화</a:t>
            </a:r>
            <a:r>
              <a:rPr lang="ko-KR" altLang="en-US" sz="1400" dirty="0">
                <a:solidFill>
                  <a:srgbClr val="FF0000"/>
                </a:solidFill>
                <a:latin typeface="HY울릉도M" pitchFamily="18" charset="-127"/>
              </a:rPr>
              <a:t> </a:t>
            </a:r>
            <a:r>
              <a:rPr lang="en-US" altLang="ko-KR" sz="1400" dirty="0">
                <a:latin typeface="HY울릉도M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울릉도M" pitchFamily="18" charset="-127"/>
              </a:rPr>
              <a:t> 축분</a:t>
            </a:r>
            <a:r>
              <a:rPr lang="ko-KR" altLang="en-US" sz="1400" dirty="0">
                <a:latin typeface="HY울릉도M" pitchFamily="18" charset="-127"/>
              </a:rPr>
              <a:t>연료화 </a:t>
            </a:r>
            <a:r>
              <a:rPr lang="en-US" altLang="ko-KR" sz="1400" dirty="0">
                <a:latin typeface="HY울릉도M" pitchFamily="18" charset="-127"/>
              </a:rPr>
              <a:t>/</a:t>
            </a:r>
            <a:r>
              <a:rPr lang="ko-KR" altLang="en-US" sz="1400" dirty="0">
                <a:latin typeface="HY울릉도M" pitchFamily="18" charset="-127"/>
              </a:rPr>
              <a:t>연탄 대체사업</a:t>
            </a:r>
            <a:r>
              <a:rPr lang="en-US" altLang="ko-KR" sz="1400" dirty="0">
                <a:latin typeface="HY울릉도M" pitchFamily="18" charset="-127"/>
              </a:rPr>
              <a:t>]</a:t>
            </a:r>
            <a:endParaRPr lang="en-US" altLang="ko-KR" sz="1400" dirty="0">
              <a:solidFill>
                <a:srgbClr val="1206F8"/>
              </a:solidFill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400" dirty="0">
                <a:solidFill>
                  <a:srgbClr val="1206F8"/>
                </a:solidFill>
                <a:latin typeface="HY울릉도M" pitchFamily="18" charset="-127"/>
              </a:rPr>
              <a:t>  </a:t>
            </a:r>
            <a:r>
              <a:rPr lang="en-US" altLang="ko-KR" sz="1200" dirty="0">
                <a:latin typeface="HY울릉도M" pitchFamily="18" charset="-127"/>
              </a:rPr>
              <a:t>- 2023</a:t>
            </a:r>
            <a:r>
              <a:rPr lang="ko-KR" altLang="en-US" sz="1200" dirty="0">
                <a:latin typeface="HY울릉도M" pitchFamily="18" charset="-127"/>
              </a:rPr>
              <a:t>년  </a:t>
            </a:r>
            <a:r>
              <a:rPr lang="en-US" altLang="ko-KR" sz="1200" dirty="0">
                <a:latin typeface="HY울릉도M" pitchFamily="18" charset="-127"/>
              </a:rPr>
              <a:t>4</a:t>
            </a:r>
            <a:r>
              <a:rPr lang="ko-KR" altLang="en-US" sz="1200" dirty="0">
                <a:latin typeface="HY울릉도M" pitchFamily="18" charset="-127"/>
              </a:rPr>
              <a:t>월  </a:t>
            </a:r>
            <a:r>
              <a:rPr lang="en-US" altLang="ko-KR" sz="1200" dirty="0">
                <a:latin typeface="HY울릉도M" pitchFamily="18" charset="-127"/>
              </a:rPr>
              <a:t>:  </a:t>
            </a:r>
            <a:r>
              <a:rPr lang="ko-KR" altLang="en-US" sz="1200" dirty="0">
                <a:latin typeface="HY울릉도M" pitchFamily="18" charset="-127"/>
              </a:rPr>
              <a:t>슬러지활용 발전소연료공급사업 보고</a:t>
            </a:r>
            <a:endParaRPr lang="en-US" altLang="ko-KR" sz="1200" dirty="0"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HY울릉도M" pitchFamily="18" charset="-127"/>
              </a:rPr>
              <a:t>  - 2023</a:t>
            </a:r>
            <a:r>
              <a:rPr lang="ko-KR" altLang="en-US" sz="1200" dirty="0">
                <a:latin typeface="HY울릉도M" pitchFamily="18" charset="-127"/>
              </a:rPr>
              <a:t>년  </a:t>
            </a:r>
            <a:r>
              <a:rPr lang="en-US" altLang="ko-KR" sz="1200" dirty="0">
                <a:latin typeface="HY울릉도M" pitchFamily="18" charset="-127"/>
              </a:rPr>
              <a:t>5</a:t>
            </a:r>
            <a:r>
              <a:rPr lang="ko-KR" altLang="en-US" sz="1200" dirty="0">
                <a:latin typeface="HY울릉도M" pitchFamily="18" charset="-127"/>
              </a:rPr>
              <a:t>월  </a:t>
            </a:r>
            <a:r>
              <a:rPr lang="en-US" altLang="ko-KR" sz="1200" dirty="0">
                <a:latin typeface="HY울릉도M" pitchFamily="18" charset="-127"/>
              </a:rPr>
              <a:t>:  </a:t>
            </a:r>
            <a:r>
              <a:rPr lang="ko-KR" altLang="en-US" sz="1200" dirty="0">
                <a:latin typeface="HY울릉도M" pitchFamily="18" charset="-127"/>
              </a:rPr>
              <a:t>제품 시험 및 기술심사</a:t>
            </a:r>
            <a:endParaRPr lang="en-US" altLang="ko-KR" sz="1200" dirty="0"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HY울릉도M" pitchFamily="18" charset="-127"/>
              </a:rPr>
              <a:t>  - 2023</a:t>
            </a:r>
            <a:r>
              <a:rPr lang="ko-KR" altLang="en-US" sz="1200" dirty="0">
                <a:latin typeface="HY울릉도M" pitchFamily="18" charset="-127"/>
              </a:rPr>
              <a:t>년  </a:t>
            </a:r>
            <a:r>
              <a:rPr lang="en-US" altLang="ko-KR" sz="1200" dirty="0">
                <a:latin typeface="HY울릉도M" pitchFamily="18" charset="-127"/>
              </a:rPr>
              <a:t>6</a:t>
            </a:r>
            <a:r>
              <a:rPr lang="ko-KR" altLang="en-US" sz="1200" dirty="0">
                <a:latin typeface="HY울릉도M" pitchFamily="18" charset="-127"/>
              </a:rPr>
              <a:t>월  </a:t>
            </a:r>
            <a:r>
              <a:rPr lang="en-US" altLang="ko-KR" sz="1200" dirty="0">
                <a:latin typeface="HY울릉도M" pitchFamily="18" charset="-127"/>
              </a:rPr>
              <a:t>:  </a:t>
            </a:r>
            <a:r>
              <a:rPr lang="ko-KR" altLang="en-US" sz="1200" dirty="0">
                <a:latin typeface="HY울릉도M" pitchFamily="18" charset="-127"/>
              </a:rPr>
              <a:t>한전</a:t>
            </a:r>
            <a:r>
              <a:rPr lang="en-US" altLang="ko-KR" sz="1200" dirty="0">
                <a:latin typeface="HY울릉도M" pitchFamily="18" charset="-127"/>
              </a:rPr>
              <a:t>MCS </a:t>
            </a:r>
            <a:r>
              <a:rPr lang="ko-KR" altLang="en-US" sz="1200" dirty="0">
                <a:latin typeface="HY울릉도M" pitchFamily="18" charset="-127"/>
              </a:rPr>
              <a:t>사업선정</a:t>
            </a:r>
            <a:r>
              <a:rPr lang="en-US" altLang="ko-KR" sz="1200" dirty="0">
                <a:latin typeface="HY울릉도M" pitchFamily="18" charset="-127"/>
              </a:rPr>
              <a:t>(</a:t>
            </a:r>
            <a:r>
              <a:rPr lang="ko-KR" altLang="en-US" sz="1200" dirty="0">
                <a:latin typeface="HY울릉도M" pitchFamily="18" charset="-127"/>
              </a:rPr>
              <a:t>사업성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∙기술성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- 2023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슬러지 연료탄 사업 양해각서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[MOU]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- 2023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슬러지 연료탄 판매 공동협약서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[MOA]</a:t>
            </a:r>
          </a:p>
          <a:p>
            <a:pPr>
              <a:lnSpc>
                <a:spcPct val="13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HY울릉도M" pitchFamily="18" charset="-127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latin typeface="HY울릉도M" pitchFamily="18" charset="-127"/>
              </a:rPr>
              <a:t>*</a:t>
            </a:r>
            <a:r>
              <a:rPr lang="en-US" altLang="ko-KR" sz="1400" dirty="0">
                <a:solidFill>
                  <a:srgbClr val="FF0000"/>
                </a:solidFill>
                <a:latin typeface="HY울릉도M" pitchFamily="18" charset="-127"/>
              </a:rPr>
              <a:t> 2023.12. 5 </a:t>
            </a:r>
            <a:r>
              <a:rPr lang="ko-KR" altLang="en-US" sz="1400" dirty="0">
                <a:solidFill>
                  <a:srgbClr val="FF0000"/>
                </a:solidFill>
                <a:latin typeface="HY울릉도M" pitchFamily="18" charset="-127"/>
              </a:rPr>
              <a:t>신재생 에너지사업 목적사업추가</a:t>
            </a:r>
            <a:endParaRPr lang="en-US" altLang="ko-KR" sz="1400" dirty="0">
              <a:solidFill>
                <a:srgbClr val="FF0000"/>
              </a:solidFill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400" dirty="0">
              <a:solidFill>
                <a:srgbClr val="FF0000"/>
              </a:solidFill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200" dirty="0">
                <a:solidFill>
                  <a:srgbClr val="1206F8"/>
                </a:solidFill>
                <a:latin typeface="HY울릉도M" pitchFamily="18" charset="-127"/>
              </a:rPr>
              <a:t>◆</a:t>
            </a:r>
            <a:r>
              <a:rPr lang="en-US" altLang="ko-KR" sz="1200" dirty="0">
                <a:solidFill>
                  <a:srgbClr val="FF0000"/>
                </a:solidFill>
                <a:latin typeface="HY울릉도M" pitchFamily="18" charset="-127"/>
              </a:rPr>
              <a:t> </a:t>
            </a:r>
            <a:r>
              <a:rPr lang="ko-KR" altLang="en-US" sz="1200" dirty="0">
                <a:latin typeface="HY울릉도M" pitchFamily="18" charset="-127"/>
              </a:rPr>
              <a:t>이열알앤디의 이열</a:t>
            </a:r>
            <a:r>
              <a:rPr lang="en-US" altLang="ko-KR" sz="1200" dirty="0">
                <a:latin typeface="HY울릉도M" pitchFamily="18" charset="-127"/>
              </a:rPr>
              <a:t>SLT</a:t>
            </a:r>
            <a:r>
              <a:rPr lang="ko-KR" altLang="en-US" sz="1200" dirty="0">
                <a:latin typeface="HY울릉도M" pitchFamily="18" charset="-127"/>
              </a:rPr>
              <a:t>시스템으로</a:t>
            </a:r>
            <a:r>
              <a:rPr lang="en-US" altLang="ko-KR" sz="1200" dirty="0">
                <a:latin typeface="HY울릉도M" pitchFamily="18" charset="-127"/>
              </a:rPr>
              <a:t> </a:t>
            </a:r>
            <a:r>
              <a:rPr lang="ko-KR" altLang="en-US" sz="1200" dirty="0" err="1">
                <a:latin typeface="HY울릉도M" pitchFamily="18" charset="-127"/>
              </a:rPr>
              <a:t>하수슬러지</a:t>
            </a:r>
            <a:r>
              <a:rPr lang="ko-KR" altLang="en-US" sz="1200" dirty="0">
                <a:latin typeface="HY울릉도M" pitchFamily="18" charset="-127"/>
              </a:rPr>
              <a:t> </a:t>
            </a:r>
            <a:r>
              <a:rPr lang="ko-KR" altLang="en-US" sz="1200" dirty="0" err="1">
                <a:latin typeface="HY울릉도M" pitchFamily="18" charset="-127"/>
              </a:rPr>
              <a:t>펠릿</a:t>
            </a:r>
            <a:r>
              <a:rPr lang="ko-KR" altLang="en-US" sz="1200" dirty="0">
                <a:latin typeface="HY울릉도M" pitchFamily="18" charset="-127"/>
              </a:rPr>
              <a:t> 제조</a:t>
            </a:r>
            <a:endParaRPr lang="en-US" altLang="ko-KR" sz="1200" dirty="0"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HY울릉도M" pitchFamily="18" charset="-127"/>
              </a:rPr>
              <a:t>                                              </a:t>
            </a:r>
            <a:r>
              <a:rPr lang="ko-KR" altLang="en-US" sz="1200" dirty="0">
                <a:latin typeface="HY울릉도M" pitchFamily="18" charset="-127"/>
              </a:rPr>
              <a:t>축분슬러지  펠릿 제조 </a:t>
            </a:r>
            <a:endParaRPr lang="en-US" altLang="ko-KR" sz="1200" dirty="0"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HY울릉도M" pitchFamily="18" charset="-127"/>
              </a:rPr>
              <a:t>                  </a:t>
            </a:r>
            <a:r>
              <a:rPr lang="ko-KR" altLang="en-US" sz="1200" b="1" dirty="0">
                <a:solidFill>
                  <a:srgbClr val="1206F8"/>
                </a:solidFill>
              </a:rPr>
              <a:t>☞</a:t>
            </a:r>
            <a:r>
              <a:rPr lang="ko-KR" altLang="en-US" sz="1200" dirty="0">
                <a:latin typeface="HY울릉도M" pitchFamily="18" charset="-127"/>
              </a:rPr>
              <a:t>     발전사  연료탄  기준치 적합</a:t>
            </a:r>
            <a:endParaRPr lang="en-US" altLang="ko-KR" sz="1200" dirty="0"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endParaRPr lang="en-US" altLang="ko-KR" sz="1200" dirty="0">
              <a:latin typeface="HY울릉도M" pitchFamily="18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200" dirty="0">
                <a:solidFill>
                  <a:srgbClr val="0000FF"/>
                </a:solidFill>
                <a:latin typeface="HY울릉도M" pitchFamily="18" charset="-127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HY울릉도M" pitchFamily="18" charset="-127"/>
              </a:rPr>
              <a:t>-</a:t>
            </a:r>
            <a:r>
              <a:rPr lang="ko-KR" altLang="en-US" sz="1200" dirty="0">
                <a:solidFill>
                  <a:srgbClr val="0000FF"/>
                </a:solidFill>
                <a:latin typeface="HY울릉도M" pitchFamily="18" charset="-127"/>
              </a:rPr>
              <a:t> </a:t>
            </a:r>
            <a:r>
              <a:rPr lang="ko-KR" altLang="en-US" sz="1200" b="1" dirty="0">
                <a:solidFill>
                  <a:srgbClr val="0000FF"/>
                </a:solidFill>
                <a:latin typeface="HY울릉도M" pitchFamily="18" charset="-127"/>
              </a:rPr>
              <a:t>기술경쟁력 확보 </a:t>
            </a:r>
            <a:r>
              <a:rPr lang="en-US" altLang="ko-KR" sz="1200" b="1" dirty="0">
                <a:solidFill>
                  <a:srgbClr val="0000FF"/>
                </a:solidFill>
                <a:latin typeface="HY울릉도M" pitchFamily="18" charset="-127"/>
              </a:rPr>
              <a:t>: 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0000FF"/>
                </a:solidFill>
                <a:latin typeface="HY울릉도M" pitchFamily="18" charset="-127"/>
              </a:rPr>
              <a:t>           </a:t>
            </a:r>
            <a:r>
              <a:rPr lang="ko-KR" altLang="en-US" sz="1200" dirty="0">
                <a:solidFill>
                  <a:srgbClr val="0000FF"/>
                </a:solidFill>
                <a:latin typeface="HY울릉도M" pitchFamily="18" charset="-127"/>
              </a:rPr>
              <a:t>하수 슬러지 최대 기피 사유인 </a:t>
            </a:r>
            <a:r>
              <a:rPr lang="ko-KR" altLang="en-US" sz="1200" b="1" dirty="0">
                <a:solidFill>
                  <a:srgbClr val="0000FF"/>
                </a:solidFill>
                <a:latin typeface="HY울릉도M" pitchFamily="18" charset="-127"/>
              </a:rPr>
              <a:t>악취 최소화</a:t>
            </a:r>
            <a:endParaRPr lang="en-US" altLang="ko-KR" sz="1200" b="1" dirty="0">
              <a:solidFill>
                <a:srgbClr val="0000FF"/>
              </a:solidFill>
              <a:latin typeface="HY울릉도M" pitchFamily="18" charset="-127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46AB7D0-CAC8-45ED-B6BF-3F4F4B8647B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509" y="816007"/>
            <a:ext cx="6123723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1. 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회사 소개 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[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한전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MCS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협약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]</a:t>
            </a:r>
            <a:b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18566C4-6AB8-4C15-B1B8-AC16B4CAA260}"/>
              </a:ext>
            </a:extLst>
          </p:cNvPr>
          <p:cNvGraphicFramePr>
            <a:graphicFrameLocks noGrp="1"/>
          </p:cNvGraphicFramePr>
          <p:nvPr/>
        </p:nvGraphicFramePr>
        <p:xfrm>
          <a:off x="5940152" y="332656"/>
          <a:ext cx="2941953" cy="39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51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39052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705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59D9435A-C082-41A0-86EB-6C8723B61ACE}"/>
              </a:ext>
            </a:extLst>
          </p:cNvPr>
          <p:cNvSpPr txBox="1">
            <a:spLocks/>
          </p:cNvSpPr>
          <p:nvPr/>
        </p:nvSpPr>
        <p:spPr>
          <a:xfrm>
            <a:off x="536509" y="2042635"/>
            <a:ext cx="8352928" cy="4680520"/>
          </a:xfrm>
          <a:prstGeom prst="roundRect">
            <a:avLst>
              <a:gd name="adj" fmla="val 6051"/>
            </a:avLst>
          </a:prstGeom>
          <a:solidFill>
            <a:schemeClr val="bg2"/>
          </a:solidFill>
          <a:ln w="28575">
            <a:solidFill>
              <a:schemeClr val="accent1"/>
            </a:solidFill>
            <a:round/>
          </a:ln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indent="-255588" fontAlgn="auto">
              <a:lnSpc>
                <a:spcPct val="150000"/>
              </a:lnSpc>
              <a:buClr>
                <a:srgbClr val="FFFFFF"/>
              </a:buClr>
              <a:buFont typeface="Georgia" pitchFamily="18" charset="0"/>
              <a:buBlip>
                <a:blip r:embed="rId2"/>
              </a:buBlip>
              <a:defRPr/>
            </a:pPr>
            <a:r>
              <a:rPr kumimoji="0" lang="ko-KR" altLang="en-US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커피 슬러지</a:t>
            </a:r>
            <a:r>
              <a:rPr kumimoji="0" lang="en-US" altLang="ko-KR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(sludge)</a:t>
            </a:r>
            <a:r>
              <a:rPr kumimoji="0" lang="ko-KR" altLang="en-US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ko-KR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 </a:t>
            </a:r>
            <a:r>
              <a:rPr kumimoji="0" lang="en-US" altLang="ko-KR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</a:p>
          <a:p>
            <a:pPr marL="109537" indent="0" fontAlgn="auto">
              <a:lnSpc>
                <a:spcPct val="150000"/>
              </a:lnSpc>
              <a:buClr>
                <a:srgbClr val="FFFFFF"/>
              </a:buClr>
              <a:buNone/>
              <a:defRPr/>
            </a:pPr>
            <a:r>
              <a:rPr kumimoji="0" lang="ko-KR" altLang="en-US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  커피를 추출한 후 남는 습한 </a:t>
            </a:r>
            <a:r>
              <a:rPr kumimoji="0" lang="ko-KR" altLang="en-US" sz="40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찌꺼기</a:t>
            </a:r>
            <a:r>
              <a:rPr kumimoji="0" lang="ko-KR" altLang="en-US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en-US" altLang="ko-KR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커피박</a:t>
            </a:r>
            <a:r>
              <a:rPr kumimoji="0" lang="en-US" altLang="ko-KR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4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粕 </a:t>
            </a:r>
            <a:r>
              <a:rPr kumimoji="0" lang="en-US" altLang="ko-KR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109537" indent="0" fontAlgn="auto">
              <a:lnSpc>
                <a:spcPct val="150000"/>
              </a:lnSpc>
              <a:buClr>
                <a:srgbClr val="FFFFFF"/>
              </a:buClr>
              <a:buNone/>
              <a:defRPr/>
            </a:pPr>
            <a:endParaRPr kumimoji="0" lang="en-US" altLang="ko-KR" sz="4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65125" indent="-255588" fontAlgn="auto">
              <a:lnSpc>
                <a:spcPct val="150000"/>
              </a:lnSpc>
              <a:buClr>
                <a:srgbClr val="FFFFFF"/>
              </a:buClr>
              <a:buFont typeface="Georgia" pitchFamily="18" charset="0"/>
              <a:buBlip>
                <a:blip r:embed="rId2"/>
              </a:buBlip>
              <a:defRPr/>
            </a:pPr>
            <a:r>
              <a:rPr kumimoji="0" lang="ko-KR" altLang="en-US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커피 슬러지 </a:t>
            </a:r>
            <a:r>
              <a:rPr kumimoji="0" lang="en-US" altLang="ko-KR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커피박</a:t>
            </a:r>
            <a:r>
              <a:rPr kumimoji="0" lang="en-US" altLang="ko-KR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kumimoji="0" lang="ko-KR" altLang="en-US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를  매립</a:t>
            </a:r>
            <a:r>
              <a:rPr kumimoji="0" lang="en-US" altLang="ko-KR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kumimoji="0" lang="ko-KR" altLang="en-US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소각하지 않고  </a:t>
            </a:r>
            <a:r>
              <a:rPr kumimoji="0" lang="en-US" altLang="ko-KR" sz="3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3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기존</a:t>
            </a:r>
            <a:r>
              <a:rPr kumimoji="0" lang="ko-KR" altLang="en-US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처리방법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65125" indent="-255588" fontAlgn="auto">
              <a:lnSpc>
                <a:spcPct val="150000"/>
              </a:lnSpc>
              <a:buClr>
                <a:srgbClr val="FFFFFF"/>
              </a:buClr>
              <a:buFont typeface="Georgia" pitchFamily="18" charset="0"/>
              <a:buBlip>
                <a:blip r:embed="rId2"/>
              </a:buBlip>
              <a:defRPr/>
            </a:pPr>
            <a:r>
              <a:rPr kumimoji="0" lang="ko-KR" altLang="en-US" sz="3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커피슬러지를</a:t>
            </a:r>
            <a:r>
              <a:rPr kumimoji="0" lang="ko-KR" altLang="en-US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가공 </a:t>
            </a:r>
            <a:r>
              <a:rPr kumimoji="0" lang="ko-KR" altLang="en-US" sz="3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연료탄</a:t>
            </a:r>
            <a:r>
              <a:rPr kumimoji="0" lang="ko-KR" altLang="en-US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제조 ∙</a:t>
            </a:r>
            <a:r>
              <a:rPr kumimoji="0" lang="en-US" altLang="ko-KR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화력발전소 연료 공급사업</a:t>
            </a:r>
            <a:endParaRPr kumimoji="0" lang="en-US" altLang="ko-KR" sz="3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65125" indent="-255588" fontAlgn="auto">
              <a:lnSpc>
                <a:spcPct val="150000"/>
              </a:lnSpc>
              <a:buClr>
                <a:srgbClr val="FFFFFF"/>
              </a:buClr>
              <a:buFont typeface="Wingdings 3" charset="2"/>
              <a:buBlip>
                <a:blip r:embed="rId2"/>
              </a:buBlip>
              <a:defRPr/>
            </a:pPr>
            <a:r>
              <a:rPr kumimoji="0" lang="ko-KR" altLang="en-US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발전소 </a:t>
            </a:r>
            <a:r>
              <a:rPr kumimoji="0" lang="en-US" altLang="ko-KR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연료 활용 시</a:t>
            </a:r>
            <a:r>
              <a:rPr kumimoji="0" lang="en-US" altLang="ko-KR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: </a:t>
            </a:r>
            <a:r>
              <a:rPr kumimoji="0" lang="ko-KR" altLang="en-US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저위 발열량 </a:t>
            </a:r>
            <a:r>
              <a:rPr kumimoji="0" lang="en-US" altLang="ko-KR" sz="3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kumimoji="0" lang="ko-KR" altLang="en-US" sz="38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약 </a:t>
            </a:r>
            <a:r>
              <a:rPr kumimoji="0" lang="en-US" altLang="ko-KR" sz="38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4,500 ~ 5.000kcal/kg (</a:t>
            </a:r>
            <a:r>
              <a:rPr kumimoji="0" lang="ko-KR" altLang="en-US" sz="38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건조기준</a:t>
            </a:r>
            <a:r>
              <a:rPr kumimoji="0" lang="en-US" altLang="ko-KR" sz="38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65125" indent="-255588" fontAlgn="auto">
              <a:lnSpc>
                <a:spcPct val="150000"/>
              </a:lnSpc>
              <a:buClr>
                <a:srgbClr val="FFFFFF"/>
              </a:buClr>
              <a:buFont typeface="Wingdings 3" charset="2"/>
              <a:buBlip>
                <a:blip r:embed="rId2"/>
              </a:buBlip>
              <a:defRPr/>
            </a:pP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발전소 외 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 </a:t>
            </a:r>
            <a:r>
              <a:rPr kumimoji="0" lang="ko-KR" altLang="en-US" sz="3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펠릿난로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친환경 연료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kumimoji="0"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•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캠핑용품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숯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kumimoji="0"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고양이 모래 </a:t>
            </a:r>
            <a:r>
              <a:rPr kumimoji="0"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•  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천연 탈취제</a:t>
            </a:r>
            <a:r>
              <a:rPr kumimoji="0" lang="en-US" altLang="ko-KR" sz="3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•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천연비료 </a:t>
            </a:r>
            <a:endParaRPr kumimoji="0" lang="en-US" altLang="ko-KR" sz="3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65125" indent="-255588" fontAlgn="auto">
              <a:lnSpc>
                <a:spcPct val="150000"/>
              </a:lnSpc>
              <a:buClr>
                <a:srgbClr val="FFFFFF"/>
              </a:buClr>
              <a:buFont typeface="Wingdings 3" charset="2"/>
              <a:buBlip>
                <a:blip r:embed="rId2"/>
              </a:buBlip>
              <a:defRPr/>
            </a:pPr>
            <a:r>
              <a:rPr kumimoji="0" lang="ko-KR" altLang="en-US" sz="40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커피 원료 수입 년 </a:t>
            </a:r>
            <a:r>
              <a:rPr kumimoji="0" lang="en-US" altLang="ko-KR" sz="40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</a:t>
            </a:r>
            <a:r>
              <a:rPr kumimoji="0" lang="ko-KR" altLang="en-US" sz="40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만 </a:t>
            </a:r>
            <a:r>
              <a:rPr kumimoji="0" lang="en-US" altLang="ko-KR" sz="40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1924</a:t>
            </a:r>
            <a:r>
              <a:rPr kumimoji="0" lang="ko-KR" altLang="en-US" sz="40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톤 </a:t>
            </a:r>
            <a:r>
              <a:rPr kumimoji="0" lang="en-US" altLang="ko-KR" sz="40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(2024</a:t>
            </a:r>
            <a:r>
              <a:rPr kumimoji="0" lang="ko-KR" altLang="en-US" sz="4000" dirty="0" err="1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년기준</a:t>
            </a:r>
            <a:r>
              <a:rPr kumimoji="0" lang="en-US" altLang="ko-KR" sz="4000" dirty="0">
                <a:solidFill>
                  <a:srgbClr val="1206F8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</a:p>
          <a:p>
            <a:pPr marL="365125" indent="-255588" fontAlgn="auto">
              <a:lnSpc>
                <a:spcPct val="150000"/>
              </a:lnSpc>
              <a:buClr>
                <a:srgbClr val="FFFFFF"/>
              </a:buClr>
              <a:buFont typeface="Wingdings 3" charset="2"/>
              <a:buBlip>
                <a:blip r:embed="rId2"/>
              </a:buBlip>
              <a:defRPr/>
            </a:pP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커피 찌꺼기 발생량은 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커피원두의 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99.8%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이며</a:t>
            </a:r>
            <a:r>
              <a:rPr kumimoji="0" lang="en-US" altLang="ko-KR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kumimoji="0" lang="ko-KR" altLang="en-US" sz="3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함수율</a:t>
            </a:r>
            <a:r>
              <a:rPr kumimoji="0" lang="ko-KR" altLang="en-US" sz="3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포함한   </a:t>
            </a:r>
            <a:r>
              <a:rPr kumimoji="0" lang="ko-KR" altLang="en-US" sz="3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커피 찌꺼기는 원료의 </a:t>
            </a:r>
            <a:r>
              <a:rPr kumimoji="0" lang="en-US" altLang="ko-KR" sz="3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kumimoji="0" lang="ko-KR" altLang="en-US" sz="3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배</a:t>
            </a:r>
            <a:endParaRPr kumimoji="0" lang="en-US" altLang="ko-KR" sz="3400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65125" indent="-255588" fontAlgn="auto">
              <a:lnSpc>
                <a:spcPct val="150000"/>
              </a:lnSpc>
              <a:buClr>
                <a:srgbClr val="FFFFFF"/>
              </a:buClr>
              <a:buBlip>
                <a:blip r:embed="rId2"/>
              </a:buBlip>
              <a:defRPr/>
            </a:pPr>
            <a:r>
              <a:rPr kumimoji="0" lang="ko-KR" altLang="en-US" sz="3400" dirty="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800" b="1" i="0" dirty="0" err="1">
                <a:solidFill>
                  <a:srgbClr val="444444"/>
                </a:solidFill>
                <a:effectLst/>
                <a:latin typeface="se-nanumgothic"/>
              </a:rPr>
              <a:t>커피박</a:t>
            </a:r>
            <a:r>
              <a:rPr lang="ko-KR" altLang="en-US" sz="3800" b="1" i="0" dirty="0">
                <a:solidFill>
                  <a:srgbClr val="444444"/>
                </a:solidFill>
                <a:effectLst/>
                <a:latin typeface="se-nanumgothic"/>
              </a:rPr>
              <a:t> </a:t>
            </a:r>
            <a:r>
              <a:rPr lang="ko-KR" altLang="en-US" sz="3800" b="1" i="0" dirty="0" err="1">
                <a:solidFill>
                  <a:srgbClr val="444444"/>
                </a:solidFill>
                <a:effectLst/>
                <a:latin typeface="se-nanumgothic"/>
              </a:rPr>
              <a:t>펠릿</a:t>
            </a:r>
            <a:r>
              <a:rPr lang="ko-KR" altLang="en-US" sz="3800" b="1" i="0" dirty="0">
                <a:solidFill>
                  <a:srgbClr val="444444"/>
                </a:solidFill>
                <a:effectLst/>
                <a:latin typeface="se-nanumgothic"/>
              </a:rPr>
              <a:t> </a:t>
            </a:r>
            <a:r>
              <a:rPr lang="en-US" altLang="ko-KR" sz="3800" b="1" i="0" dirty="0">
                <a:solidFill>
                  <a:srgbClr val="444444"/>
                </a:solidFill>
                <a:effectLst/>
                <a:latin typeface="se-nanumgothic"/>
              </a:rPr>
              <a:t>1</a:t>
            </a:r>
            <a:r>
              <a:rPr lang="ko-KR" altLang="en-US" sz="3800" b="1" i="0" dirty="0">
                <a:solidFill>
                  <a:srgbClr val="444444"/>
                </a:solidFill>
                <a:effectLst/>
                <a:latin typeface="se-nanumgothic"/>
              </a:rPr>
              <a:t>톤을 사용할 경우 온실가스  </a:t>
            </a:r>
            <a:r>
              <a:rPr lang="en-US" altLang="ko-KR" sz="3800" b="1" i="0" dirty="0">
                <a:solidFill>
                  <a:srgbClr val="444444"/>
                </a:solidFill>
                <a:effectLst/>
                <a:latin typeface="se-nanumgothic"/>
              </a:rPr>
              <a:t>1.38tCO2 </a:t>
            </a:r>
            <a:r>
              <a:rPr lang="ko-KR" altLang="en-US" sz="3800" b="1" i="0" dirty="0">
                <a:solidFill>
                  <a:srgbClr val="444444"/>
                </a:solidFill>
                <a:effectLst/>
                <a:latin typeface="se-nanumgothic"/>
              </a:rPr>
              <a:t>감축</a:t>
            </a:r>
            <a:r>
              <a:rPr lang="en-US" altLang="ko-KR" sz="3800" b="1" dirty="0">
                <a:solidFill>
                  <a:srgbClr val="444444"/>
                </a:solidFill>
                <a:latin typeface="se-nanumgothic"/>
              </a:rPr>
              <a:t> </a:t>
            </a:r>
            <a:r>
              <a:rPr lang="en-US" altLang="ko-KR" sz="3800" b="1" i="0" dirty="0">
                <a:solidFill>
                  <a:srgbClr val="444444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[</a:t>
            </a:r>
            <a:r>
              <a:rPr lang="ko-KR" altLang="en-US" sz="3800" b="1" i="0" dirty="0" err="1">
                <a:solidFill>
                  <a:srgbClr val="444444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한국</a:t>
            </a:r>
            <a:r>
              <a:rPr lang="ko-KR" altLang="en-US" sz="3800" b="1" dirty="0" err="1">
                <a:solidFill>
                  <a:srgbClr val="444444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동서발전</a:t>
            </a:r>
            <a:r>
              <a:rPr lang="ko-KR" altLang="en-US" sz="3800" b="1" dirty="0">
                <a:solidFill>
                  <a:srgbClr val="444444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 </a:t>
            </a:r>
            <a:r>
              <a:rPr lang="en-US" altLang="ko-KR" sz="3800" b="1" dirty="0">
                <a:solidFill>
                  <a:srgbClr val="444444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2024.9.6]</a:t>
            </a:r>
            <a:endParaRPr lang="ko-KR" altLang="en-US" sz="3800" b="1" i="0" dirty="0">
              <a:solidFill>
                <a:srgbClr val="444444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D3356C-20CA-43E7-BAF0-6E8DB9C0A54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509" y="816007"/>
            <a:ext cx="8208912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사업 소개 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[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사업개요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:</a:t>
            </a:r>
            <a:r>
              <a:rPr kumimoji="0" lang="ko-KR" altLang="en-US" sz="2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커피 슬러지</a:t>
            </a:r>
            <a:r>
              <a:rPr kumimoji="0" lang="en-US" altLang="ko-KR" sz="2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(</a:t>
            </a:r>
            <a:r>
              <a:rPr kumimoji="0" lang="ko-KR" altLang="en-US" sz="2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커피박</a:t>
            </a:r>
            <a:r>
              <a:rPr kumimoji="0" lang="en-US" altLang="ko-KR" sz="2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)</a:t>
            </a:r>
            <a:r>
              <a:rPr kumimoji="0" lang="ko-KR" altLang="en-US" sz="2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연료화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]</a:t>
            </a:r>
            <a:b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57C62D4-96A7-4BF7-8A0C-D180A55C5BEA}"/>
              </a:ext>
            </a:extLst>
          </p:cNvPr>
          <p:cNvGraphicFramePr>
            <a:graphicFrameLocks noGrp="1"/>
          </p:cNvGraphicFramePr>
          <p:nvPr/>
        </p:nvGraphicFramePr>
        <p:xfrm>
          <a:off x="5940152" y="332656"/>
          <a:ext cx="2941953" cy="39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51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39052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F1E77943-233E-4C30-AD39-9B4D74A4BFDB}"/>
              </a:ext>
            </a:extLst>
          </p:cNvPr>
          <p:cNvSpPr/>
          <p:nvPr/>
        </p:nvSpPr>
        <p:spPr>
          <a:xfrm>
            <a:off x="686611" y="2132856"/>
            <a:ext cx="7920880" cy="1152129"/>
          </a:xfrm>
          <a:prstGeom prst="rect">
            <a:avLst/>
          </a:prstGeom>
          <a:solidFill>
            <a:schemeClr val="accent6">
              <a:lumMod val="60000"/>
              <a:lumOff val="40000"/>
              <a:alpha val="37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01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40AAA2-9776-4E76-AEA4-8589A94EE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325968"/>
              </p:ext>
            </p:extLst>
          </p:nvPr>
        </p:nvGraphicFramePr>
        <p:xfrm>
          <a:off x="107504" y="2348880"/>
          <a:ext cx="2000264" cy="314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567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latin typeface="HY울릉도M" pitchFamily="18" charset="-127"/>
                          <a:ea typeface="HY울릉도M" pitchFamily="18" charset="-127"/>
                        </a:rPr>
                        <a:t>1</a:t>
                      </a:r>
                      <a:r>
                        <a:rPr lang="ko-KR" altLang="en-US" sz="1300" b="0" dirty="0">
                          <a:latin typeface="HY울릉도M" pitchFamily="18" charset="-127"/>
                          <a:ea typeface="HY울릉도M" pitchFamily="18" charset="-127"/>
                        </a:rPr>
                        <a:t>단계 →</a:t>
                      </a:r>
                      <a:endParaRPr lang="en-US" altLang="ko-KR" sz="13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latin typeface="HY울릉도M" pitchFamily="18" charset="-127"/>
                          <a:ea typeface="HY울릉도M" pitchFamily="18" charset="-127"/>
                        </a:rPr>
                        <a:t>커피 슬러지 혼합 </a:t>
                      </a:r>
                    </a:p>
                  </a:txBody>
                  <a:tcPr marL="60256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B6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598">
                <a:tc>
                  <a:txBody>
                    <a:bodyPr/>
                    <a:lstStyle/>
                    <a:p>
                      <a:pPr latinLnBrk="1">
                        <a:buFontTx/>
                        <a:buNone/>
                      </a:pPr>
                      <a:endParaRPr lang="en-US" altLang="ko-KR" sz="1300" strike="noStrike" spc="-150" baseline="0" dirty="0"/>
                    </a:p>
                  </a:txBody>
                  <a:tcPr marL="60256" marR="0" marT="3263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185E9C1-5794-4632-9ACC-9D6A7A90F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932016"/>
              </p:ext>
            </p:extLst>
          </p:nvPr>
        </p:nvGraphicFramePr>
        <p:xfrm>
          <a:off x="2339752" y="2348880"/>
          <a:ext cx="2000264" cy="314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559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latin typeface="HY울릉도M" pitchFamily="18" charset="-127"/>
                          <a:ea typeface="HY울릉도M" pitchFamily="18" charset="-127"/>
                        </a:rPr>
                        <a:t>2</a:t>
                      </a:r>
                      <a:r>
                        <a:rPr lang="ko-KR" altLang="en-US" sz="1300" b="0" dirty="0">
                          <a:latin typeface="HY울릉도M" pitchFamily="18" charset="-127"/>
                          <a:ea typeface="HY울릉도M" pitchFamily="18" charset="-127"/>
                        </a:rPr>
                        <a:t>단계 →</a:t>
                      </a:r>
                      <a:endParaRPr lang="en-US" altLang="ko-KR" sz="13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latin typeface="HY울릉도M" pitchFamily="18" charset="-127"/>
                          <a:ea typeface="HY울릉도M" pitchFamily="18" charset="-127"/>
                        </a:rPr>
                        <a:t> 커피찌꺼기 </a:t>
                      </a:r>
                      <a:r>
                        <a:rPr lang="ko-KR" altLang="en-US" sz="1300" b="0" dirty="0" err="1">
                          <a:latin typeface="HY울릉도M" pitchFamily="18" charset="-127"/>
                          <a:ea typeface="HY울릉도M" pitchFamily="18" charset="-127"/>
                        </a:rPr>
                        <a:t>펠렛</a:t>
                      </a:r>
                      <a:r>
                        <a:rPr lang="ko-KR" altLang="en-US" sz="1300" b="0" dirty="0">
                          <a:latin typeface="HY울릉도M" pitchFamily="18" charset="-127"/>
                          <a:ea typeface="HY울릉도M" pitchFamily="18" charset="-127"/>
                        </a:rPr>
                        <a:t> 성형화</a:t>
                      </a:r>
                    </a:p>
                  </a:txBody>
                  <a:tcPr marL="60256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B6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678">
                <a:tc>
                  <a:txBody>
                    <a:bodyPr/>
                    <a:lstStyle/>
                    <a:p>
                      <a:pPr latinLnBrk="1">
                        <a:buFontTx/>
                        <a:buNone/>
                      </a:pPr>
                      <a:endParaRPr lang="en-US" altLang="ko-KR" sz="1300" strike="noStrike" spc="-150" baseline="0" dirty="0"/>
                    </a:p>
                  </a:txBody>
                  <a:tcPr marL="60256" marR="0" marT="3263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B772F9D-4B89-48C6-8861-33D35F2CA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966517"/>
              </p:ext>
            </p:extLst>
          </p:nvPr>
        </p:nvGraphicFramePr>
        <p:xfrm>
          <a:off x="4523874" y="2353961"/>
          <a:ext cx="2071702" cy="314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84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latin typeface="HY울릉도M" pitchFamily="18" charset="-127"/>
                          <a:ea typeface="HY울릉도M" pitchFamily="18" charset="-127"/>
                        </a:rPr>
                        <a:t>3</a:t>
                      </a:r>
                      <a:r>
                        <a:rPr lang="ko-KR" altLang="en-US" sz="1300" b="0" dirty="0">
                          <a:latin typeface="HY울릉도M" pitchFamily="18" charset="-127"/>
                          <a:ea typeface="HY울릉도M" pitchFamily="18" charset="-127"/>
                        </a:rPr>
                        <a:t>단계 → </a:t>
                      </a:r>
                      <a:endParaRPr lang="en-US" altLang="ko-KR" sz="13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latin typeface="HY울릉도M" pitchFamily="18" charset="-127"/>
                          <a:ea typeface="HY울릉도M" pitchFamily="18" charset="-127"/>
                        </a:rPr>
                        <a:t>저온 열풍기류건조</a:t>
                      </a:r>
                    </a:p>
                  </a:txBody>
                  <a:tcPr marL="60256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B6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813">
                <a:tc>
                  <a:txBody>
                    <a:bodyPr/>
                    <a:lstStyle/>
                    <a:p>
                      <a:pPr latinLnBrk="1">
                        <a:buFontTx/>
                        <a:buNone/>
                      </a:pPr>
                      <a:endParaRPr lang="en-US" altLang="ko-KR" sz="1300" strike="noStrike" spc="-150" baseline="0" dirty="0"/>
                    </a:p>
                  </a:txBody>
                  <a:tcPr marL="60256" marR="0" marT="3263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749603D-3C4E-4796-B560-14AB7A67D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37081"/>
              </p:ext>
            </p:extLst>
          </p:nvPr>
        </p:nvGraphicFramePr>
        <p:xfrm>
          <a:off x="6750315" y="2318048"/>
          <a:ext cx="2071702" cy="314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567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latin typeface="HY울릉도M" pitchFamily="18" charset="-127"/>
                          <a:ea typeface="HY울릉도M" pitchFamily="18" charset="-127"/>
                        </a:rPr>
                        <a:t>4</a:t>
                      </a:r>
                      <a:r>
                        <a:rPr lang="ko-KR" altLang="en-US" sz="1300" b="0" dirty="0">
                          <a:latin typeface="HY울릉도M" pitchFamily="18" charset="-127"/>
                          <a:ea typeface="HY울릉도M" pitchFamily="18" charset="-127"/>
                        </a:rPr>
                        <a:t>단계→</a:t>
                      </a:r>
                      <a:endParaRPr lang="en-US" altLang="ko-KR" sz="13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baseline="0" dirty="0">
                          <a:latin typeface="HY울릉도M" pitchFamily="18" charset="-127"/>
                          <a:ea typeface="HY울릉도M" pitchFamily="18" charset="-127"/>
                        </a:rPr>
                        <a:t> </a:t>
                      </a:r>
                      <a:r>
                        <a:rPr lang="ko-KR" altLang="en-US" sz="1300" b="0" baseline="0" dirty="0" err="1">
                          <a:latin typeface="HY울릉도M" pitchFamily="18" charset="-127"/>
                          <a:ea typeface="HY울릉도M" pitchFamily="18" charset="-127"/>
                        </a:rPr>
                        <a:t>연료탄</a:t>
                      </a:r>
                      <a:r>
                        <a:rPr lang="ko-KR" altLang="en-US" sz="1300" b="0" baseline="0" dirty="0">
                          <a:latin typeface="HY울릉도M" pitchFamily="18" charset="-127"/>
                          <a:ea typeface="HY울릉도M" pitchFamily="18" charset="-127"/>
                        </a:rPr>
                        <a:t> 제품 제조</a:t>
                      </a:r>
                      <a:endParaRPr lang="en-US" altLang="ko-KR" sz="13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 marL="60256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B6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598">
                <a:tc>
                  <a:txBody>
                    <a:bodyPr/>
                    <a:lstStyle/>
                    <a:p>
                      <a:pPr latinLnBrk="1">
                        <a:buFontTx/>
                        <a:buNone/>
                      </a:pPr>
                      <a:endParaRPr lang="en-US" altLang="ko-KR" sz="1300" strike="noStrike" spc="-150" baseline="0" dirty="0"/>
                    </a:p>
                  </a:txBody>
                  <a:tcPr marL="60256" marR="0" marT="3263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EC5BB1F9-8D30-4D4B-B2F5-CC6911C1C79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56"/>
          <a:stretch/>
        </p:blipFill>
        <p:spPr>
          <a:xfrm>
            <a:off x="274443" y="3634764"/>
            <a:ext cx="1714512" cy="5715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9B5BCA-476E-43EB-BF38-3BF1968573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358" y="3276448"/>
            <a:ext cx="866439" cy="12881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38D92A5-7D5E-4418-AC98-CBACD1EF3B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648" y="3276448"/>
            <a:ext cx="857256" cy="12881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1C68FBE-109F-4E0D-B280-3BCFA6F553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575" y="3276448"/>
            <a:ext cx="1857388" cy="1408789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7139DD5-6FFF-4C57-88FF-48BED8B04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805687" y="3302870"/>
            <a:ext cx="2000264" cy="1428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오각형 56">
            <a:extLst>
              <a:ext uri="{FF2B5EF4-FFF2-40B4-BE49-F238E27FC236}">
                <a16:creationId xmlns:a16="http://schemas.microsoft.com/office/drawing/2014/main" id="{419D385C-A2F4-414D-8FBE-6942905D86E7}"/>
              </a:ext>
            </a:extLst>
          </p:cNvPr>
          <p:cNvSpPr/>
          <p:nvPr/>
        </p:nvSpPr>
        <p:spPr>
          <a:xfrm>
            <a:off x="321983" y="4857199"/>
            <a:ext cx="1428760" cy="411257"/>
          </a:xfrm>
          <a:prstGeom prst="homePlate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혼합 커피 찌꺼기</a:t>
            </a:r>
            <a:endParaRPr lang="en-US" altLang="ko-KR" sz="11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  <a:p>
            <a:pPr algn="ctr">
              <a:defRPr/>
            </a:pP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100" spc="-15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50%)</a:t>
            </a:r>
            <a:endParaRPr lang="ko-KR" altLang="en-US" sz="11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5" name="오각형 78">
            <a:extLst>
              <a:ext uri="{FF2B5EF4-FFF2-40B4-BE49-F238E27FC236}">
                <a16:creationId xmlns:a16="http://schemas.microsoft.com/office/drawing/2014/main" id="{2D1B3975-7339-4BBB-934F-839AF323AF3B}"/>
              </a:ext>
            </a:extLst>
          </p:cNvPr>
          <p:cNvSpPr/>
          <p:nvPr/>
        </p:nvSpPr>
        <p:spPr>
          <a:xfrm>
            <a:off x="2460810" y="4857200"/>
            <a:ext cx="1500198" cy="411257"/>
          </a:xfrm>
          <a:prstGeom prst="homePlate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100" spc="-15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펠렛성형</a:t>
            </a: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커피 찌꺼기</a:t>
            </a:r>
            <a:endParaRPr lang="en-US" altLang="ko-KR" sz="11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  <a:p>
            <a:pPr algn="ctr">
              <a:defRPr/>
            </a:pP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100" spc="-15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 </a:t>
            </a:r>
            <a:r>
              <a:rPr lang="en-US" altLang="ko-KR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50%)</a:t>
            </a:r>
            <a:endParaRPr lang="ko-KR" altLang="en-US" sz="11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6" name="오각형 24">
            <a:extLst>
              <a:ext uri="{FF2B5EF4-FFF2-40B4-BE49-F238E27FC236}">
                <a16:creationId xmlns:a16="http://schemas.microsoft.com/office/drawing/2014/main" id="{8C24C08D-C075-4420-B0D5-9965A3D82884}"/>
              </a:ext>
            </a:extLst>
          </p:cNvPr>
          <p:cNvSpPr/>
          <p:nvPr/>
        </p:nvSpPr>
        <p:spPr>
          <a:xfrm>
            <a:off x="4821654" y="4857199"/>
            <a:ext cx="1571636" cy="411257"/>
          </a:xfrm>
          <a:prstGeom prst="homePlate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건조 커피찌꺼기</a:t>
            </a:r>
            <a:endParaRPr lang="en-US" altLang="ko-KR" sz="11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  <a:p>
            <a:pPr algn="ctr">
              <a:defRPr/>
            </a:pP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100" spc="-15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15~10%)</a:t>
            </a:r>
            <a:endParaRPr lang="ko-KR" altLang="en-US" sz="11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7" name="오각형 55">
            <a:extLst>
              <a:ext uri="{FF2B5EF4-FFF2-40B4-BE49-F238E27FC236}">
                <a16:creationId xmlns:a16="http://schemas.microsoft.com/office/drawing/2014/main" id="{131D5B61-5240-4419-8776-6B1D4648F24E}"/>
              </a:ext>
            </a:extLst>
          </p:cNvPr>
          <p:cNvSpPr/>
          <p:nvPr/>
        </p:nvSpPr>
        <p:spPr>
          <a:xfrm>
            <a:off x="6863486" y="4855929"/>
            <a:ext cx="1571636" cy="411257"/>
          </a:xfrm>
          <a:prstGeom prst="homePlate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커피 찌꺼기 </a:t>
            </a:r>
            <a:r>
              <a:rPr lang="ko-KR" altLang="en-US" sz="1100" spc="-15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연료탄</a:t>
            </a:r>
            <a:endParaRPr lang="en-US" altLang="ko-KR" sz="11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  <a:p>
            <a:pPr algn="ctr">
              <a:defRPr/>
            </a:pP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100" spc="-15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r>
              <a:rPr lang="ko-KR" altLang="en-US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en-US" altLang="ko-KR" sz="11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10~8%)</a:t>
            </a:r>
            <a:endParaRPr lang="ko-KR" altLang="en-US" sz="11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335BC22-543C-4987-B528-7069DE221726}"/>
              </a:ext>
            </a:extLst>
          </p:cNvPr>
          <p:cNvSpPr/>
          <p:nvPr/>
        </p:nvSpPr>
        <p:spPr>
          <a:xfrm>
            <a:off x="4580752" y="2934376"/>
            <a:ext cx="1928826" cy="226591"/>
          </a:xfrm>
          <a:prstGeom prst="rect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펠렛성형</a:t>
            </a:r>
            <a:r>
              <a:rPr lang="ko-KR" altLang="en-US" sz="1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커피찌꺼기</a:t>
            </a:r>
            <a:r>
              <a:rPr lang="en-US" altLang="ko-KR" sz="1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r>
              <a:rPr lang="en-US" altLang="ko-KR" sz="1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50%)</a:t>
            </a:r>
            <a:endParaRPr lang="ko-KR" altLang="en-US" sz="10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0F799B-2E2B-40D6-B1D6-B2443BF6140E}"/>
              </a:ext>
            </a:extLst>
          </p:cNvPr>
          <p:cNvSpPr/>
          <p:nvPr/>
        </p:nvSpPr>
        <p:spPr>
          <a:xfrm>
            <a:off x="6805687" y="2934376"/>
            <a:ext cx="2000264" cy="226591"/>
          </a:xfrm>
          <a:prstGeom prst="rect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건조 커피찌꺼기 </a:t>
            </a:r>
            <a:r>
              <a:rPr lang="en-US" altLang="ko-KR" sz="1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r>
              <a:rPr lang="en-US" altLang="ko-KR" sz="1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15~10%)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595611-7C9C-4D89-B29D-3B2B3E1D2965}"/>
              </a:ext>
            </a:extLst>
          </p:cNvPr>
          <p:cNvSpPr/>
          <p:nvPr/>
        </p:nvSpPr>
        <p:spPr>
          <a:xfrm>
            <a:off x="2375273" y="2939968"/>
            <a:ext cx="1886541" cy="241980"/>
          </a:xfrm>
          <a:prstGeom prst="rect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1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혼합 커피찌꺼기 </a:t>
            </a:r>
            <a:r>
              <a:rPr lang="en-US" altLang="ko-KR" sz="11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r>
              <a:rPr lang="en-US" altLang="ko-KR" sz="11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50%)</a:t>
            </a:r>
            <a:endParaRPr lang="ko-KR" altLang="en-US" sz="11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21" name="오각형 62">
            <a:extLst>
              <a:ext uri="{FF2B5EF4-FFF2-40B4-BE49-F238E27FC236}">
                <a16:creationId xmlns:a16="http://schemas.microsoft.com/office/drawing/2014/main" id="{AB355C2D-5808-4070-95A0-D9631FEF6484}"/>
              </a:ext>
            </a:extLst>
          </p:cNvPr>
          <p:cNvSpPr/>
          <p:nvPr/>
        </p:nvSpPr>
        <p:spPr>
          <a:xfrm>
            <a:off x="130035" y="2932274"/>
            <a:ext cx="928694" cy="257369"/>
          </a:xfrm>
          <a:prstGeom prst="homePlate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200" spc="-15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커피 찌꺼기</a:t>
            </a:r>
          </a:p>
        </p:txBody>
      </p:sp>
      <p:sp>
        <p:nvSpPr>
          <p:cNvPr id="22" name="오각형 63">
            <a:extLst>
              <a:ext uri="{FF2B5EF4-FFF2-40B4-BE49-F238E27FC236}">
                <a16:creationId xmlns:a16="http://schemas.microsoft.com/office/drawing/2014/main" id="{8B3025CE-5EFC-43CD-A49A-34BE2A6EA925}"/>
              </a:ext>
            </a:extLst>
          </p:cNvPr>
          <p:cNvSpPr/>
          <p:nvPr/>
        </p:nvSpPr>
        <p:spPr>
          <a:xfrm flipH="1">
            <a:off x="1242587" y="2948117"/>
            <a:ext cx="857256" cy="257369"/>
          </a:xfrm>
          <a:prstGeom prst="homePlate">
            <a:avLst/>
          </a:prstGeom>
          <a:solidFill>
            <a:srgbClr val="FCF8D8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200" spc="-15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부재료</a:t>
            </a:r>
            <a:endParaRPr lang="en-US" altLang="ko-KR" sz="1200" spc="-15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cxnSp>
        <p:nvCxnSpPr>
          <p:cNvPr id="23" name="꺾인 연결선 82">
            <a:extLst>
              <a:ext uri="{FF2B5EF4-FFF2-40B4-BE49-F238E27FC236}">
                <a16:creationId xmlns:a16="http://schemas.microsoft.com/office/drawing/2014/main" id="{248D706B-4F95-4D7B-A222-817C6A1002BD}"/>
              </a:ext>
            </a:extLst>
          </p:cNvPr>
          <p:cNvCxnSpPr/>
          <p:nvPr/>
        </p:nvCxnSpPr>
        <p:spPr>
          <a:xfrm rot="16200000" flipH="1">
            <a:off x="728400" y="3263092"/>
            <a:ext cx="391479" cy="320179"/>
          </a:xfrm>
          <a:prstGeom prst="bentConnector3">
            <a:avLst>
              <a:gd name="adj1" fmla="val 50000"/>
            </a:avLst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꺾인 연결선 84">
            <a:extLst>
              <a:ext uri="{FF2B5EF4-FFF2-40B4-BE49-F238E27FC236}">
                <a16:creationId xmlns:a16="http://schemas.microsoft.com/office/drawing/2014/main" id="{59E006DC-3B52-4997-A02A-A9105C9DAC21}"/>
              </a:ext>
            </a:extLst>
          </p:cNvPr>
          <p:cNvCxnSpPr/>
          <p:nvPr/>
        </p:nvCxnSpPr>
        <p:spPr>
          <a:xfrm rot="5400000">
            <a:off x="1136962" y="3344065"/>
            <a:ext cx="391479" cy="32978"/>
          </a:xfrm>
          <a:prstGeom prst="bentConnector3">
            <a:avLst>
              <a:gd name="adj1" fmla="val 56067"/>
            </a:avLst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3ECB667-ADE5-48FB-AE5D-6A94DBFE5383}"/>
              </a:ext>
            </a:extLst>
          </p:cNvPr>
          <p:cNvSpPr/>
          <p:nvPr/>
        </p:nvSpPr>
        <p:spPr>
          <a:xfrm>
            <a:off x="107504" y="3275103"/>
            <a:ext cx="747214" cy="39325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r>
              <a:rPr lang="en-US" altLang="ko-KR" sz="1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(70~80%)</a:t>
            </a:r>
            <a:endParaRPr lang="ko-KR" altLang="en-US" sz="10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5A72650-0143-4082-BBF3-2CFE3F42A178}"/>
              </a:ext>
            </a:extLst>
          </p:cNvPr>
          <p:cNvSpPr/>
          <p:nvPr/>
        </p:nvSpPr>
        <p:spPr>
          <a:xfrm>
            <a:off x="1404563" y="3238442"/>
            <a:ext cx="621837" cy="38048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36000" rIns="0" bIns="36000" anchor="ctr">
            <a:spAutoFit/>
          </a:bodyPr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함수율</a:t>
            </a:r>
            <a:endParaRPr lang="en-US" altLang="ko-KR" sz="10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  <a:p>
            <a:pPr algn="ctr">
              <a:defRPr/>
            </a:pPr>
            <a:r>
              <a:rPr lang="en-US" altLang="ko-KR" sz="1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(10~15%)</a:t>
            </a:r>
            <a:endParaRPr lang="ko-KR" altLang="en-US" sz="10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42E1D595-7C02-4C45-B7F3-8C5DC1D3915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5081" y="880538"/>
            <a:ext cx="6750315" cy="741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ko-KR"/>
              <a:t>1. </a:t>
            </a:r>
            <a:r>
              <a:rPr kumimoji="0" lang="ko-KR" altLang="en-US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endParaRPr kumimoji="0"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C7DE663-E8AA-4F3F-A012-07F2B29970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74" y="5546130"/>
            <a:ext cx="2071702" cy="119523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EDC9235-3B2F-49BF-BF55-32F7DCDE2E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2046" y="5497689"/>
            <a:ext cx="2170434" cy="124367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2F39FDB-BE32-48A1-A69E-B997538E548A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16200000">
            <a:off x="2708679" y="5080911"/>
            <a:ext cx="1249216" cy="2071702"/>
          </a:xfrm>
          <a:prstGeom prst="trapezoid">
            <a:avLst>
              <a:gd name="adj" fmla="val 19011"/>
            </a:avLst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F63D80B-19BB-4E1D-8812-2BB9D88EF32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EFF3F4"/>
              </a:clrFrom>
              <a:clrTo>
                <a:srgbClr val="EFF3F4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293869" y="5546129"/>
            <a:ext cx="1848323" cy="1231904"/>
          </a:xfrm>
          <a:prstGeom prst="rect">
            <a:avLst/>
          </a:prstGeom>
          <a:ln>
            <a:noFill/>
          </a:ln>
        </p:spPr>
      </p:pic>
      <p:sp>
        <p:nvSpPr>
          <p:cNvPr id="34" name="Rectangle 2">
            <a:extLst>
              <a:ext uri="{FF2B5EF4-FFF2-40B4-BE49-F238E27FC236}">
                <a16:creationId xmlns:a16="http://schemas.microsoft.com/office/drawing/2014/main" id="{C8B1CCD0-33EE-4F5F-8AFF-6FB4D9D7876B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509" y="816007"/>
            <a:ext cx="6699787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2. 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사업 소개 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[</a:t>
            </a:r>
            <a:r>
              <a:rPr kumimoji="0" lang="ko-KR" altLang="en-US" sz="20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커피 슬러지 연료화 제조공정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]</a:t>
            </a:r>
            <a:b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F1366E31-390B-4967-85F4-D2C116CC2017}"/>
              </a:ext>
            </a:extLst>
          </p:cNvPr>
          <p:cNvGraphicFramePr>
            <a:graphicFrameLocks noGrp="1"/>
          </p:cNvGraphicFramePr>
          <p:nvPr/>
        </p:nvGraphicFramePr>
        <p:xfrm>
          <a:off x="5940152" y="332656"/>
          <a:ext cx="2941953" cy="39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51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39052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1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161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0FD78AF4-5C17-4895-B050-63E8B1650FE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509" y="816007"/>
            <a:ext cx="6123723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3. 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사업성 분석 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[</a:t>
            </a:r>
            <a:r>
              <a:rPr lang="en-US" altLang="ko-KR" sz="32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VALUATION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]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b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72D13B7-71FE-42C7-A6BB-2D1B1BDC01D7}"/>
              </a:ext>
            </a:extLst>
          </p:cNvPr>
          <p:cNvGraphicFramePr>
            <a:graphicFrameLocks noGrp="1"/>
          </p:cNvGraphicFramePr>
          <p:nvPr/>
        </p:nvGraphicFramePr>
        <p:xfrm>
          <a:off x="5940152" y="332656"/>
          <a:ext cx="2941953" cy="39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51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39052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9B0724E-9F6D-48A2-AA04-DBB94D947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164513"/>
              </p:ext>
            </p:extLst>
          </p:nvPr>
        </p:nvGraphicFramePr>
        <p:xfrm>
          <a:off x="323528" y="2019362"/>
          <a:ext cx="8496944" cy="4722009"/>
        </p:xfrm>
        <a:graphic>
          <a:graphicData uri="http://schemas.openxmlformats.org/drawingml/2006/table">
            <a:tbl>
              <a:tblPr>
                <a:effectLst>
                  <a:outerShdw blurRad="50800" dir="5400000" sx="102000" sy="102000" algn="ctr" rotWithShape="0">
                    <a:schemeClr val="accent4">
                      <a:lumMod val="60000"/>
                      <a:lumOff val="40000"/>
                    </a:schemeClr>
                  </a:outerShdw>
                </a:effectLst>
                <a:tableStyleId>{8A107856-5554-42FB-B03E-39F5DBC370BA}</a:tableStyleId>
              </a:tblPr>
              <a:tblGrid>
                <a:gridCol w="532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838">
                  <a:extLst>
                    <a:ext uri="{9D8B030D-6E8A-4147-A177-3AD203B41FA5}">
                      <a16:colId xmlns:a16="http://schemas.microsoft.com/office/drawing/2014/main" val="291735592"/>
                    </a:ext>
                  </a:extLst>
                </a:gridCol>
                <a:gridCol w="2247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1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624">
                  <a:extLst>
                    <a:ext uri="{9D8B030D-6E8A-4147-A177-3AD203B41FA5}">
                      <a16:colId xmlns:a16="http://schemas.microsoft.com/office/drawing/2014/main" val="265135474"/>
                    </a:ext>
                  </a:extLst>
                </a:gridCol>
                <a:gridCol w="12741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0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 구분 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   항       목 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 기   준 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 단가 </a:t>
                      </a:r>
                      <a:r>
                        <a:rPr lang="en-US" altLang="ko-KR" sz="11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1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 산출내역 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 금액 </a:t>
                      </a:r>
                      <a:r>
                        <a:rPr lang="en-US" altLang="ko-KR" sz="11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천원</a:t>
                      </a:r>
                      <a:r>
                        <a:rPr lang="en-US" altLang="ko-KR" sz="11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비고 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 비고 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1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수입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  <a:latin typeface="+mn-ea"/>
                          <a:ea typeface="+mn-ea"/>
                        </a:rPr>
                        <a:t>난방용연료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15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600,000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15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일 *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600,000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톤 *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330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en-US" altLang="ko-KR" sz="9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2,970,000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화훼단지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캠핑장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 err="1">
                          <a:effectLst/>
                          <a:latin typeface="+mn-ea"/>
                          <a:ea typeface="+mn-ea"/>
                        </a:rPr>
                        <a:t>풀빌라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화훼단지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사랑의연탄 판매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843656"/>
                  </a:ext>
                </a:extLst>
              </a:tr>
              <a:tr h="2865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가정용 연료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 400,000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 10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일 * 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400,000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톤 *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330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1,320,000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사랑의 연탄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 err="1">
                          <a:effectLst/>
                          <a:latin typeface="+mn-ea"/>
                          <a:ea typeface="+mn-ea"/>
                        </a:rPr>
                        <a:t>커피탄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화훼단지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사랑의연탄 판매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235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 건조물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분말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바이오차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흡착소재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바이오차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흡착소재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78444"/>
                  </a:ext>
                </a:extLst>
              </a:tr>
              <a:tr h="2539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 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ko-KR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4,290,000 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892945"/>
                  </a:ext>
                </a:extLst>
              </a:tr>
              <a:tr h="233948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커피찌꺼기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50,000/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*50,000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*330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495,000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자원과 순환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협의가능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장기계약조건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97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톱밥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130,000/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*130,000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*330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514,800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장기계약조건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자원과 순환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협의가능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12740"/>
                  </a:ext>
                </a:extLst>
              </a:tr>
              <a:tr h="3152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연료비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LPG</a:t>
                      </a: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(kg /12,000Kcal)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1,650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원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28.5kg *1,650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원 *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24HR * 330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372,438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전력비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KW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110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원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350KW * 110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/kwh</a:t>
                      </a:r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 * 24HR *330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304,920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이열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SLT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이열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SLT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66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인건비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공장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                         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인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교대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명 *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130,000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일 *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365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332,150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현장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명 관리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현장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명 관리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66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유지관리비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/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매출액의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5%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214,500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공장경비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임차료 등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기계설비 </a:t>
                      </a:r>
                      <a:r>
                        <a:rPr lang="en-US" altLang="ko-KR" sz="900" dirty="0"/>
                        <a:t>75</a:t>
                      </a:r>
                      <a:r>
                        <a:rPr lang="ko-KR" altLang="en-US" sz="900" dirty="0"/>
                        <a:t>억원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5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운반비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30,000/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*30,000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톤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*330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247,500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150Km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기준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150Km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기준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54547"/>
                  </a:ext>
                </a:extLst>
              </a:tr>
              <a:tr h="28654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일반관리비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사무실 관리비</a:t>
                      </a:r>
                    </a:p>
                  </a:txBody>
                  <a:tcPr marL="5284" marR="108000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매출액의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3%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128,700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778507"/>
                  </a:ext>
                </a:extLst>
              </a:tr>
              <a:tr h="25603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 계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2,610,008</a:t>
                      </a:r>
                      <a:r>
                        <a:rPr lang="ko-KR" altLang="en-US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ko-KR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80712"/>
                  </a:ext>
                </a:extLst>
              </a:tr>
              <a:tr h="27736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900" b="1" i="0" u="none" strike="noStrike" dirty="0">
                        <a:solidFill>
                          <a:srgbClr val="1206F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1206F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3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　투자비용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설비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매출 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수입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매입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  익</a:t>
                      </a: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 익 율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55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1,500,000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4,290,000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2,610,008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1,679,992</a:t>
                      </a:r>
                      <a:r>
                        <a:rPr lang="ko-KR" altLang="en-US" sz="900" b="1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39%</a:t>
                      </a:r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84" marR="5284" marT="52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66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0FD78AF4-5C17-4895-B050-63E8B1650FE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509" y="816007"/>
            <a:ext cx="7419867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4. 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커피찌꺼기 활용 관련제품 현황 </a:t>
            </a:r>
            <a:b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72D13B7-71FE-42C7-A6BB-2D1B1BDC01D7}"/>
              </a:ext>
            </a:extLst>
          </p:cNvPr>
          <p:cNvGraphicFramePr>
            <a:graphicFrameLocks noGrp="1"/>
          </p:cNvGraphicFramePr>
          <p:nvPr/>
        </p:nvGraphicFramePr>
        <p:xfrm>
          <a:off x="5940152" y="332656"/>
          <a:ext cx="2941953" cy="39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51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39052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E7AD1F1-77B1-4CD6-B969-337D29966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25009"/>
              </p:ext>
            </p:extLst>
          </p:nvPr>
        </p:nvGraphicFramePr>
        <p:xfrm>
          <a:off x="413942" y="2204864"/>
          <a:ext cx="8622554" cy="4588673"/>
        </p:xfrm>
        <a:graphic>
          <a:graphicData uri="http://schemas.openxmlformats.org/drawingml/2006/table">
            <a:tbl>
              <a:tblPr/>
              <a:tblGrid>
                <a:gridCol w="388810">
                  <a:extLst>
                    <a:ext uri="{9D8B030D-6E8A-4147-A177-3AD203B41FA5}">
                      <a16:colId xmlns:a16="http://schemas.microsoft.com/office/drawing/2014/main" val="870078214"/>
                    </a:ext>
                  </a:extLst>
                </a:gridCol>
                <a:gridCol w="1202713">
                  <a:extLst>
                    <a:ext uri="{9D8B030D-6E8A-4147-A177-3AD203B41FA5}">
                      <a16:colId xmlns:a16="http://schemas.microsoft.com/office/drawing/2014/main" val="1791141260"/>
                    </a:ext>
                  </a:extLst>
                </a:gridCol>
                <a:gridCol w="1234016">
                  <a:extLst>
                    <a:ext uri="{9D8B030D-6E8A-4147-A177-3AD203B41FA5}">
                      <a16:colId xmlns:a16="http://schemas.microsoft.com/office/drawing/2014/main" val="1298333096"/>
                    </a:ext>
                  </a:extLst>
                </a:gridCol>
                <a:gridCol w="1234016">
                  <a:extLst>
                    <a:ext uri="{9D8B030D-6E8A-4147-A177-3AD203B41FA5}">
                      <a16:colId xmlns:a16="http://schemas.microsoft.com/office/drawing/2014/main" val="2743515454"/>
                    </a:ext>
                  </a:extLst>
                </a:gridCol>
                <a:gridCol w="1243087">
                  <a:extLst>
                    <a:ext uri="{9D8B030D-6E8A-4147-A177-3AD203B41FA5}">
                      <a16:colId xmlns:a16="http://schemas.microsoft.com/office/drawing/2014/main" val="871637027"/>
                    </a:ext>
                  </a:extLst>
                </a:gridCol>
                <a:gridCol w="1513648">
                  <a:extLst>
                    <a:ext uri="{9D8B030D-6E8A-4147-A177-3AD203B41FA5}">
                      <a16:colId xmlns:a16="http://schemas.microsoft.com/office/drawing/2014/main" val="1578711782"/>
                    </a:ext>
                  </a:extLst>
                </a:gridCol>
                <a:gridCol w="1806264">
                  <a:extLst>
                    <a:ext uri="{9D8B030D-6E8A-4147-A177-3AD203B41FA5}">
                      <a16:colId xmlns:a16="http://schemas.microsoft.com/office/drawing/2014/main" val="4169401658"/>
                    </a:ext>
                  </a:extLst>
                </a:gridCol>
              </a:tblGrid>
              <a:tr h="3445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커피찌꺼기 </a:t>
                      </a: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펠릿연료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제품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건조 </a:t>
                      </a: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커피박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제품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기능성 및 특수용 소재 제품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413318"/>
                  </a:ext>
                </a:extLst>
              </a:tr>
              <a:tr h="28958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823062"/>
                  </a:ext>
                </a:extLst>
              </a:tr>
              <a:tr h="5389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용도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가정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난방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캠핑 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가정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난방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캠핑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난방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캠핑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바베큐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비료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탈취제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벌레퇴치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기름제거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과학실험교구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방향제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악취제거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수처리 소재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활성탄 대체제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838157"/>
                  </a:ext>
                </a:extLst>
              </a:tr>
              <a:tr h="33043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중량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15kg / 5kg /2.5kg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15kg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1kg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21kg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200g /</a:t>
                      </a:r>
                      <a:r>
                        <a:rPr 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ea</a:t>
                      </a:r>
                      <a:endParaRPr 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972096"/>
                  </a:ext>
                </a:extLst>
              </a:tr>
              <a:tr h="4264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금액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18,900 /11,000 /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7,500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19.500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10,000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8,500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9,900 / 3,300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고가</a:t>
                      </a:r>
                    </a:p>
                  </a:txBody>
                  <a:tcPr marL="42190" marR="42190" marT="11664" marB="116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982142"/>
                  </a:ext>
                </a:extLst>
              </a:tr>
            </a:tbl>
          </a:graphicData>
        </a:graphic>
      </p:graphicFrame>
      <p:sp>
        <p:nvSpPr>
          <p:cNvPr id="6" name="Rectangle 28">
            <a:extLst>
              <a:ext uri="{FF2B5EF4-FFF2-40B4-BE49-F238E27FC236}">
                <a16:creationId xmlns:a16="http://schemas.microsoft.com/office/drawing/2014/main" id="{D8C96008-9401-46E4-8269-77262063F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2489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51" name="_x246796944">
            <a:extLst>
              <a:ext uri="{FF2B5EF4-FFF2-40B4-BE49-F238E27FC236}">
                <a16:creationId xmlns:a16="http://schemas.microsoft.com/office/drawing/2014/main" id="{03D1C97B-1C91-4720-A988-86AE93438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73" y="2827660"/>
            <a:ext cx="1100950" cy="223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_x246796800">
            <a:extLst>
              <a:ext uri="{FF2B5EF4-FFF2-40B4-BE49-F238E27FC236}">
                <a16:creationId xmlns:a16="http://schemas.microsoft.com/office/drawing/2014/main" id="{3BDBB50C-715D-400A-B8C4-92D6F30E5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813" y="2838308"/>
            <a:ext cx="1126650" cy="224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_x246796584">
            <a:extLst>
              <a:ext uri="{FF2B5EF4-FFF2-40B4-BE49-F238E27FC236}">
                <a16:creationId xmlns:a16="http://schemas.microsoft.com/office/drawing/2014/main" id="{45CC655B-C636-4E54-A237-0576FC3D4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140" y="2867992"/>
            <a:ext cx="1065585" cy="221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_x176339272">
            <a:extLst>
              <a:ext uri="{FF2B5EF4-FFF2-40B4-BE49-F238E27FC236}">
                <a16:creationId xmlns:a16="http://schemas.microsoft.com/office/drawing/2014/main" id="{B4685173-DB3D-4E77-AD26-D671FE18E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415" y="2849209"/>
            <a:ext cx="1126651" cy="224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_x247734112">
            <a:extLst>
              <a:ext uri="{FF2B5EF4-FFF2-40B4-BE49-F238E27FC236}">
                <a16:creationId xmlns:a16="http://schemas.microsoft.com/office/drawing/2014/main" id="{2EAC0AD0-E847-47CA-8BEB-F21970F7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061" y="2815587"/>
            <a:ext cx="1328126" cy="71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_x204116704">
            <a:extLst>
              <a:ext uri="{FF2B5EF4-FFF2-40B4-BE49-F238E27FC236}">
                <a16:creationId xmlns:a16="http://schemas.microsoft.com/office/drawing/2014/main" id="{D1FBB731-4414-4B7D-961A-79FC8FD03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439" y="3727994"/>
            <a:ext cx="1382633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_x204117352">
            <a:extLst>
              <a:ext uri="{FF2B5EF4-FFF2-40B4-BE49-F238E27FC236}">
                <a16:creationId xmlns:a16="http://schemas.microsoft.com/office/drawing/2014/main" id="{2371CC61-D8D7-45A8-9614-9D426211A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763" y="2558919"/>
            <a:ext cx="1697959" cy="155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_x383707056">
            <a:extLst>
              <a:ext uri="{FF2B5EF4-FFF2-40B4-BE49-F238E27FC236}">
                <a16:creationId xmlns:a16="http://schemas.microsoft.com/office/drawing/2014/main" id="{786BF33B-FBD6-4B40-8DB7-47BE5B8FD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846" y="4112833"/>
            <a:ext cx="1670876" cy="128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E7927C4-F9FA-4F61-8C3E-72F00DA75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268840"/>
              </p:ext>
            </p:extLst>
          </p:nvPr>
        </p:nvGraphicFramePr>
        <p:xfrm>
          <a:off x="413942" y="2204863"/>
          <a:ext cx="8639623" cy="4588673"/>
        </p:xfrm>
        <a:graphic>
          <a:graphicData uri="http://schemas.openxmlformats.org/drawingml/2006/table">
            <a:tbl>
              <a:tblPr/>
              <a:tblGrid>
                <a:gridCol w="8639623">
                  <a:extLst>
                    <a:ext uri="{9D8B030D-6E8A-4147-A177-3AD203B41FA5}">
                      <a16:colId xmlns:a16="http://schemas.microsoft.com/office/drawing/2014/main" val="3555120391"/>
                    </a:ext>
                  </a:extLst>
                </a:gridCol>
              </a:tblGrid>
              <a:tr h="45886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82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633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2A7DD82-A5BC-45D1-A7DD-CF08D2C2D1C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509" y="816007"/>
            <a:ext cx="6123723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5. </a:t>
            </a: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사업추진 계획 </a:t>
            </a:r>
            <a: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br>
              <a:rPr kumimoji="0"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kumimoji="0"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 </a:t>
            </a:r>
          </a:p>
        </p:txBody>
      </p:sp>
      <p:sp>
        <p:nvSpPr>
          <p:cNvPr id="6" name="AutoShape 302">
            <a:extLst>
              <a:ext uri="{FF2B5EF4-FFF2-40B4-BE49-F238E27FC236}">
                <a16:creationId xmlns:a16="http://schemas.microsoft.com/office/drawing/2014/main" id="{6E831D70-E3FB-44AC-AE97-F17CBDCF1CD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99590" y="2204221"/>
            <a:ext cx="7083425" cy="4318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00 w 21600"/>
              <a:gd name="T13" fmla="*/ 2200 h 21600"/>
              <a:gd name="T14" fmla="*/ 19400 w 21600"/>
              <a:gd name="T15" fmla="*/ 19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799" y="21600"/>
                </a:lnTo>
                <a:lnTo>
                  <a:pt x="20801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00AFCC"/>
              </a:gs>
              <a:gs pos="100000">
                <a:srgbClr val="A9E4EE"/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 sz="1800" dirty="0">
              <a:latin typeface="+mj-ea"/>
              <a:ea typeface="+mj-ea"/>
            </a:endParaRPr>
          </a:p>
        </p:txBody>
      </p:sp>
      <p:sp>
        <p:nvSpPr>
          <p:cNvPr id="9" name="Text Box 303">
            <a:extLst>
              <a:ext uri="{FF2B5EF4-FFF2-40B4-BE49-F238E27FC236}">
                <a16:creationId xmlns:a16="http://schemas.microsoft.com/office/drawing/2014/main" id="{EBCAEC3C-8E7B-47F8-B74C-E0BA87A3D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45" y="2217738"/>
            <a:ext cx="65214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j-ea"/>
                <a:ea typeface="+mj-ea"/>
              </a:rPr>
              <a:t>         1</a:t>
            </a:r>
            <a:r>
              <a:rPr lang="ko-KR" altLang="en-US" sz="1800" dirty="0">
                <a:solidFill>
                  <a:srgbClr val="000000"/>
                </a:solidFill>
                <a:latin typeface="+mj-ea"/>
                <a:ea typeface="+mj-ea"/>
              </a:rPr>
              <a:t>차 커피찌꺼기 연료화 </a:t>
            </a:r>
            <a:r>
              <a:rPr lang="en-US" altLang="ko-KR" sz="1800" dirty="0">
                <a:solidFill>
                  <a:srgbClr val="000000"/>
                </a:solidFill>
                <a:latin typeface="+mj-ea"/>
                <a:ea typeface="+mj-ea"/>
              </a:rPr>
              <a:t>[2026</a:t>
            </a:r>
            <a:r>
              <a:rPr lang="ko-KR" altLang="en-US" sz="1800" dirty="0">
                <a:solidFill>
                  <a:srgbClr val="000000"/>
                </a:solidFill>
                <a:latin typeface="+mj-ea"/>
                <a:ea typeface="+mj-ea"/>
              </a:rPr>
              <a:t>년</a:t>
            </a:r>
            <a:r>
              <a:rPr lang="en-US" altLang="ko-KR" sz="1800" dirty="0">
                <a:solidFill>
                  <a:srgbClr val="000000"/>
                </a:solidFill>
                <a:latin typeface="+mj-ea"/>
                <a:ea typeface="+mj-ea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0" name="Picture 300" descr="그림31">
            <a:extLst>
              <a:ext uri="{FF2B5EF4-FFF2-40B4-BE49-F238E27FC236}">
                <a16:creationId xmlns:a16="http://schemas.microsoft.com/office/drawing/2014/main" id="{EE4E74D5-6987-4299-A21A-8FE1F6AAE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253484"/>
            <a:ext cx="4054816" cy="5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308">
            <a:extLst>
              <a:ext uri="{FF2B5EF4-FFF2-40B4-BE49-F238E27FC236}">
                <a16:creationId xmlns:a16="http://schemas.microsoft.com/office/drawing/2014/main" id="{475897A2-EB07-40C3-8FFF-DAEBD84E021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24990" y="3843305"/>
            <a:ext cx="7175402" cy="4318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00 w 21600"/>
              <a:gd name="T13" fmla="*/ 2200 h 21600"/>
              <a:gd name="T14" fmla="*/ 19400 w 21600"/>
              <a:gd name="T15" fmla="*/ 19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799" y="21600"/>
                </a:lnTo>
                <a:lnTo>
                  <a:pt x="20801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00AFCC"/>
              </a:gs>
              <a:gs pos="100000">
                <a:srgbClr val="A9E4EE"/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 sz="1800" dirty="0">
              <a:latin typeface="+mj-ea"/>
              <a:ea typeface="+mj-ea"/>
            </a:endParaRPr>
          </a:p>
        </p:txBody>
      </p:sp>
      <p:sp>
        <p:nvSpPr>
          <p:cNvPr id="12" name="Text Box 309">
            <a:extLst>
              <a:ext uri="{FF2B5EF4-FFF2-40B4-BE49-F238E27FC236}">
                <a16:creationId xmlns:a16="http://schemas.microsoft.com/office/drawing/2014/main" id="{9783F44E-1836-4CC6-8D3F-D660761AD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527" y="3928221"/>
            <a:ext cx="67659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j-ea"/>
                <a:ea typeface="+mj-ea"/>
              </a:rPr>
              <a:t>2</a:t>
            </a:r>
            <a:r>
              <a:rPr lang="ko-KR" altLang="en-US" sz="1800" dirty="0">
                <a:solidFill>
                  <a:srgbClr val="000000"/>
                </a:solidFill>
                <a:latin typeface="+mj-ea"/>
                <a:ea typeface="+mj-ea"/>
              </a:rPr>
              <a:t>차 커피찌꺼기 자원화  </a:t>
            </a:r>
            <a:r>
              <a:rPr lang="en-US" altLang="ko-KR" sz="1800" dirty="0">
                <a:solidFill>
                  <a:srgbClr val="000000"/>
                </a:solidFill>
                <a:latin typeface="+mj-ea"/>
                <a:ea typeface="+mj-ea"/>
              </a:rPr>
              <a:t>[2027</a:t>
            </a:r>
            <a:r>
              <a:rPr lang="ko-KR" altLang="en-US" sz="1800" dirty="0">
                <a:solidFill>
                  <a:srgbClr val="000000"/>
                </a:solidFill>
                <a:latin typeface="+mj-ea"/>
                <a:ea typeface="+mj-ea"/>
              </a:rPr>
              <a:t>년</a:t>
            </a:r>
            <a:r>
              <a:rPr lang="en-US" altLang="ko-KR" sz="1800" dirty="0">
                <a:solidFill>
                  <a:srgbClr val="000000"/>
                </a:solidFill>
                <a:latin typeface="+mj-ea"/>
                <a:ea typeface="+mj-ea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3" name="AutoShape 307">
            <a:extLst>
              <a:ext uri="{FF2B5EF4-FFF2-40B4-BE49-F238E27FC236}">
                <a16:creationId xmlns:a16="http://schemas.microsoft.com/office/drawing/2014/main" id="{A6096713-AAB8-45FE-8594-0659F2D8D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1" y="4342235"/>
            <a:ext cx="7175402" cy="5088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00 w 21600"/>
              <a:gd name="T13" fmla="*/ 2200 h 21600"/>
              <a:gd name="T14" fmla="*/ 19400 w 21600"/>
              <a:gd name="T15" fmla="*/ 19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799" y="21600"/>
                </a:lnTo>
                <a:lnTo>
                  <a:pt x="208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ko-KR" altLang="en-US" sz="1600" b="1" dirty="0">
                <a:latin typeface="+mj-ea"/>
                <a:ea typeface="+mj-ea"/>
              </a:rPr>
              <a:t>충청권</a:t>
            </a:r>
            <a:r>
              <a:rPr lang="en-US" altLang="ko-KR" sz="1600" b="1" dirty="0">
                <a:latin typeface="+mj-ea"/>
                <a:ea typeface="+mj-ea"/>
              </a:rPr>
              <a:t>(</a:t>
            </a:r>
            <a:r>
              <a:rPr lang="ko-KR" altLang="en-US" sz="1600" b="1" dirty="0">
                <a:latin typeface="+mj-ea"/>
                <a:ea typeface="+mj-ea"/>
              </a:rPr>
              <a:t>커피</a:t>
            </a:r>
            <a:r>
              <a:rPr lang="en-US" altLang="ko-KR" sz="1600" b="1" dirty="0">
                <a:latin typeface="+mj-ea"/>
                <a:ea typeface="+mj-ea"/>
              </a:rPr>
              <a:t>2</a:t>
            </a:r>
            <a:r>
              <a:rPr lang="ko-KR" altLang="en-US" sz="1600" b="1" dirty="0">
                <a:latin typeface="+mj-ea"/>
                <a:ea typeface="+mj-ea"/>
              </a:rPr>
              <a:t>공장</a:t>
            </a:r>
            <a:r>
              <a:rPr lang="en-US" altLang="ko-KR" sz="1600" b="1" dirty="0">
                <a:latin typeface="+mj-ea"/>
                <a:ea typeface="+mj-ea"/>
              </a:rPr>
              <a:t>)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난방용연료탄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경북권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커피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공장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: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탈취제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〮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경축순환농업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깔개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기능성퇴비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600" b="1" dirty="0">
              <a:latin typeface="+mj-ea"/>
              <a:ea typeface="+mj-ea"/>
            </a:endParaRPr>
          </a:p>
        </p:txBody>
      </p:sp>
      <p:sp>
        <p:nvSpPr>
          <p:cNvPr id="14" name="Rectangle 310">
            <a:extLst>
              <a:ext uri="{FF2B5EF4-FFF2-40B4-BE49-F238E27FC236}">
                <a16:creationId xmlns:a16="http://schemas.microsoft.com/office/drawing/2014/main" id="{8001E85B-BAE6-44F3-B7D6-CE174C92B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115" y="4405106"/>
            <a:ext cx="648652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ko-KR" altLang="en-US" sz="16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5" name="Picture 306" descr="그림31">
            <a:extLst>
              <a:ext uri="{FF2B5EF4-FFF2-40B4-BE49-F238E27FC236}">
                <a16:creationId xmlns:a16="http://schemas.microsoft.com/office/drawing/2014/main" id="{61624E32-2429-4C1A-98C2-CA9F7B1D9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549" y="4889387"/>
            <a:ext cx="4032250" cy="45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AutoShape 314">
            <a:extLst>
              <a:ext uri="{FF2B5EF4-FFF2-40B4-BE49-F238E27FC236}">
                <a16:creationId xmlns:a16="http://schemas.microsoft.com/office/drawing/2014/main" id="{2BD2A5A7-F115-4C4D-90BF-9F818F07FBC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16522" y="5436298"/>
            <a:ext cx="7083425" cy="4318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00 w 21600"/>
              <a:gd name="T13" fmla="*/ 2200 h 21600"/>
              <a:gd name="T14" fmla="*/ 19400 w 21600"/>
              <a:gd name="T15" fmla="*/ 19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799" y="21600"/>
                </a:lnTo>
                <a:lnTo>
                  <a:pt x="20801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00AFCC"/>
              </a:gs>
              <a:gs pos="100000">
                <a:srgbClr val="A9E4EE"/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 sz="1800" dirty="0">
              <a:latin typeface="+mj-ea"/>
              <a:ea typeface="+mj-ea"/>
            </a:endParaRPr>
          </a:p>
        </p:txBody>
      </p:sp>
      <p:sp>
        <p:nvSpPr>
          <p:cNvPr id="18" name="Text Box 315">
            <a:extLst>
              <a:ext uri="{FF2B5EF4-FFF2-40B4-BE49-F238E27FC236}">
                <a16:creationId xmlns:a16="http://schemas.microsoft.com/office/drawing/2014/main" id="{1CAF7C21-91B2-4DFB-B64F-79238E5EB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277" y="5483923"/>
            <a:ext cx="6765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800" dirty="0">
                <a:solidFill>
                  <a:srgbClr val="000000"/>
                </a:solidFill>
                <a:latin typeface="HY울릉도M" pitchFamily="18" charset="-127"/>
                <a:ea typeface="HY울릉도M" pitchFamily="18" charset="-127"/>
              </a:rPr>
              <a:t>             3</a:t>
            </a:r>
            <a:r>
              <a:rPr lang="ko-KR" altLang="en-US" sz="1800" dirty="0">
                <a:solidFill>
                  <a:srgbClr val="000000"/>
                </a:solidFill>
                <a:latin typeface="HY울릉도M" pitchFamily="18" charset="-127"/>
                <a:ea typeface="HY울릉도M" pitchFamily="18" charset="-127"/>
              </a:rPr>
              <a:t>차 커피찌꺼기 소재 사업화 </a:t>
            </a:r>
            <a:r>
              <a:rPr lang="en-US" altLang="ko-KR" sz="1800" dirty="0">
                <a:solidFill>
                  <a:srgbClr val="000000"/>
                </a:solidFill>
                <a:latin typeface="HY울릉도M" pitchFamily="18" charset="-127"/>
                <a:ea typeface="HY울릉도M" pitchFamily="18" charset="-127"/>
              </a:rPr>
              <a:t>[2028</a:t>
            </a:r>
            <a:r>
              <a:rPr lang="ko-KR" altLang="en-US" sz="1800" dirty="0">
                <a:solidFill>
                  <a:srgbClr val="000000"/>
                </a:solidFill>
                <a:latin typeface="HY울릉도M" pitchFamily="18" charset="-127"/>
                <a:ea typeface="HY울릉도M" pitchFamily="18" charset="-127"/>
              </a:rPr>
              <a:t>년</a:t>
            </a:r>
            <a:r>
              <a:rPr lang="en-US" altLang="ko-KR" sz="1800" dirty="0">
                <a:solidFill>
                  <a:srgbClr val="000000"/>
                </a:solidFill>
                <a:latin typeface="HY울릉도M" pitchFamily="18" charset="-127"/>
                <a:ea typeface="HY울릉도M" pitchFamily="18" charset="-127"/>
              </a:rPr>
              <a:t>~]</a:t>
            </a:r>
            <a:endParaRPr lang="ko-KR" altLang="en-US" sz="1800" dirty="0">
              <a:solidFill>
                <a:srgbClr val="000000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23" name="AutoShape 307">
            <a:extLst>
              <a:ext uri="{FF2B5EF4-FFF2-40B4-BE49-F238E27FC236}">
                <a16:creationId xmlns:a16="http://schemas.microsoft.com/office/drawing/2014/main" id="{115AFFE6-2C02-4F0E-A701-EBBDC941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661" y="5897982"/>
            <a:ext cx="7056739" cy="5088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00 w 21600"/>
              <a:gd name="T13" fmla="*/ 2200 h 21600"/>
              <a:gd name="T14" fmla="*/ 19400 w 21600"/>
              <a:gd name="T15" fmla="*/ 19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799" y="21600"/>
                </a:lnTo>
                <a:lnTo>
                  <a:pt x="208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강원권</a:t>
            </a: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커피</a:t>
            </a: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4</a:t>
            </a:r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공장</a:t>
            </a: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)  : </a:t>
            </a:r>
            <a:r>
              <a:rPr lang="ko-KR" altLang="en-US" sz="1600" b="1" dirty="0" err="1">
                <a:solidFill>
                  <a:srgbClr val="000000"/>
                </a:solidFill>
                <a:latin typeface="+mj-ea"/>
                <a:ea typeface="+mj-ea"/>
              </a:rPr>
              <a:t>바이오차</a:t>
            </a: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 err="1">
                <a:solidFill>
                  <a:srgbClr val="000000"/>
                </a:solidFill>
                <a:latin typeface="+mj-ea"/>
                <a:ea typeface="+mj-ea"/>
              </a:rPr>
              <a:t>탄소크레딧</a:t>
            </a: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) 〮 </a:t>
            </a:r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산업용소재화</a:t>
            </a:r>
            <a:endParaRPr lang="ko-KR" altLang="en-US" sz="1800" b="1" dirty="0">
              <a:latin typeface="+mj-ea"/>
              <a:ea typeface="+mj-ea"/>
            </a:endParaRPr>
          </a:p>
        </p:txBody>
      </p:sp>
      <p:sp>
        <p:nvSpPr>
          <p:cNvPr id="31" name="Text Box 303">
            <a:extLst>
              <a:ext uri="{FF2B5EF4-FFF2-40B4-BE49-F238E27FC236}">
                <a16:creationId xmlns:a16="http://schemas.microsoft.com/office/drawing/2014/main" id="{70B78E94-77C9-40F5-8B79-9C0EAFBAE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038" y="4830634"/>
            <a:ext cx="2016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>
              <a:defRPr/>
            </a:pP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endParaRPr lang="ko-KR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0" name="AutoShape 307">
            <a:extLst>
              <a:ext uri="{FF2B5EF4-FFF2-40B4-BE49-F238E27FC236}">
                <a16:creationId xmlns:a16="http://schemas.microsoft.com/office/drawing/2014/main" id="{320A81CB-8EFE-4410-947D-1E9359974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662" y="2645535"/>
            <a:ext cx="7069356" cy="5088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00 w 21600"/>
              <a:gd name="T13" fmla="*/ 2200 h 21600"/>
              <a:gd name="T14" fmla="*/ 19400 w 21600"/>
              <a:gd name="T15" fmla="*/ 194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799" y="21600"/>
                </a:lnTo>
                <a:lnTo>
                  <a:pt x="208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ko-KR" altLang="en-US" sz="1600" b="1" dirty="0">
                <a:latin typeface="+mj-ea"/>
                <a:ea typeface="+mj-ea"/>
              </a:rPr>
              <a:t>수도권</a:t>
            </a:r>
            <a:r>
              <a:rPr lang="en-US" altLang="ko-KR" sz="1600" b="1" dirty="0">
                <a:latin typeface="+mj-ea"/>
                <a:ea typeface="+mj-ea"/>
              </a:rPr>
              <a:t>(</a:t>
            </a:r>
            <a:r>
              <a:rPr lang="ko-KR" altLang="en-US" sz="1600" b="1" dirty="0">
                <a:latin typeface="+mj-ea"/>
                <a:ea typeface="+mj-ea"/>
              </a:rPr>
              <a:t>커피</a:t>
            </a:r>
            <a:r>
              <a:rPr lang="en-US" altLang="ko-KR" sz="1600" b="1" dirty="0">
                <a:latin typeface="+mj-ea"/>
                <a:ea typeface="+mj-ea"/>
              </a:rPr>
              <a:t>1</a:t>
            </a:r>
            <a:r>
              <a:rPr lang="ko-KR" altLang="en-US" sz="1600" b="1" dirty="0">
                <a:latin typeface="+mj-ea"/>
                <a:ea typeface="+mj-ea"/>
              </a:rPr>
              <a:t>공장</a:t>
            </a:r>
            <a:r>
              <a:rPr lang="en-US" altLang="ko-KR" sz="1600" b="1" dirty="0">
                <a:latin typeface="+mj-ea"/>
                <a:ea typeface="+mj-ea"/>
              </a:rPr>
              <a:t>)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난방용연료탄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〮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캠핑용연료</a:t>
            </a:r>
            <a:endParaRPr lang="ko-KR" altLang="en-US" sz="1600" b="1" dirty="0">
              <a:latin typeface="+mj-ea"/>
              <a:ea typeface="+mj-ea"/>
            </a:endParaRPr>
          </a:p>
        </p:txBody>
      </p:sp>
      <p:sp>
        <p:nvSpPr>
          <p:cNvPr id="22" name="Text Box 303">
            <a:extLst>
              <a:ext uri="{FF2B5EF4-FFF2-40B4-BE49-F238E27FC236}">
                <a16:creationId xmlns:a16="http://schemas.microsoft.com/office/drawing/2014/main" id="{72FB87F7-6E28-4C6B-854A-F45ADC345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039" y="3276515"/>
            <a:ext cx="2016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anchor="ctr"/>
          <a:lstStyle/>
          <a:p>
            <a:pPr algn="ctr">
              <a:defRPr/>
            </a:pPr>
            <a:r>
              <a:rPr lang="en-US" altLang="ko-KR" sz="24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endParaRPr lang="ko-KR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1486DDC-0F2C-428D-9F04-26E48DCAA5DC}"/>
              </a:ext>
            </a:extLst>
          </p:cNvPr>
          <p:cNvGraphicFramePr>
            <a:graphicFrameLocks noGrp="1"/>
          </p:cNvGraphicFramePr>
          <p:nvPr/>
        </p:nvGraphicFramePr>
        <p:xfrm>
          <a:off x="5940152" y="332656"/>
          <a:ext cx="2941953" cy="39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51">
                  <a:extLst>
                    <a:ext uri="{9D8B030D-6E8A-4147-A177-3AD203B41FA5}">
                      <a16:colId xmlns:a16="http://schemas.microsoft.com/office/drawing/2014/main" val="3344881959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624541933"/>
                    </a:ext>
                  </a:extLst>
                </a:gridCol>
                <a:gridCol w="980651">
                  <a:extLst>
                    <a:ext uri="{9D8B030D-6E8A-4147-A177-3AD203B41FA5}">
                      <a16:colId xmlns:a16="http://schemas.microsoft.com/office/drawing/2014/main" val="3728153054"/>
                    </a:ext>
                  </a:extLst>
                </a:gridCol>
              </a:tblGrid>
              <a:tr h="39052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8643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15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1104799-0E56-47FD-8EB4-692014869A4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460375"/>
            <a:ext cx="6062663" cy="741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kumimoji="0"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보유기술 </a:t>
            </a:r>
            <a:r>
              <a:rPr kumimoji="0"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kumimoji="0"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지적재산권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154E92F-36AE-40A8-9930-1E6CD9D6F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2019300"/>
            <a:ext cx="2790825" cy="416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HY울릉도M" pitchFamily="18" charset="-127"/>
              </a:defRPr>
            </a:lvl9pPr>
          </a:lstStyle>
          <a:p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47CAC3-1914-4DF7-896A-A59490D36D4A}"/>
              </a:ext>
            </a:extLst>
          </p:cNvPr>
          <p:cNvSpPr/>
          <p:nvPr/>
        </p:nvSpPr>
        <p:spPr>
          <a:xfrm>
            <a:off x="109538" y="1979613"/>
            <a:ext cx="2868612" cy="391795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F7BBF8-4431-48B4-8D73-867CD6D22A36}"/>
              </a:ext>
            </a:extLst>
          </p:cNvPr>
          <p:cNvSpPr/>
          <p:nvPr/>
        </p:nvSpPr>
        <p:spPr>
          <a:xfrm>
            <a:off x="6165850" y="1979613"/>
            <a:ext cx="2868613" cy="391795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01FE8-37E1-46FF-921E-8363BF440A6F}"/>
              </a:ext>
            </a:extLst>
          </p:cNvPr>
          <p:cNvSpPr/>
          <p:nvPr/>
        </p:nvSpPr>
        <p:spPr>
          <a:xfrm>
            <a:off x="3136900" y="1979613"/>
            <a:ext cx="2868613" cy="39179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801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잔디.png">
            <a:extLst>
              <a:ext uri="{FF2B5EF4-FFF2-40B4-BE49-F238E27FC236}">
                <a16:creationId xmlns:a16="http://schemas.microsoft.com/office/drawing/2014/main" id="{A4C35B43-A288-42B9-93B0-2545978CFE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5175"/>
            <a:ext cx="9144000" cy="451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4F396D-5565-497F-BB32-2A624AAA8FF0}"/>
              </a:ext>
            </a:extLst>
          </p:cNvPr>
          <p:cNvSpPr txBox="1"/>
          <p:nvPr/>
        </p:nvSpPr>
        <p:spPr>
          <a:xfrm>
            <a:off x="1268400" y="3078304"/>
            <a:ext cx="6715125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lvl="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en-US" altLang="ko-KR" sz="4000" b="1" dirty="0">
                <a:latin typeface="HY헤드라인M" pitchFamily="18" charset="-127"/>
                <a:ea typeface="HY헤드라인M" pitchFamily="18" charset="-127"/>
              </a:rPr>
              <a:t>Thanks Your Attention !!</a:t>
            </a:r>
            <a:endParaRPr kumimoji="0" lang="ko-KR" altLang="en-US" sz="4000" b="1" dirty="0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8790CA-835A-46AB-8B7A-9A685BD39B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77" y="4030711"/>
            <a:ext cx="3816424" cy="2784226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49E946F1-0AAF-47EA-97BE-E2298CF4DB7E}"/>
              </a:ext>
            </a:extLst>
          </p:cNvPr>
          <p:cNvGrpSpPr/>
          <p:nvPr/>
        </p:nvGrpSpPr>
        <p:grpSpPr>
          <a:xfrm>
            <a:off x="4695721" y="4048074"/>
            <a:ext cx="3882702" cy="2749500"/>
            <a:chOff x="142876" y="3857628"/>
            <a:chExt cx="3357554" cy="278608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52CB619-23F2-4357-A495-B059F0AA6002}"/>
                </a:ext>
              </a:extLst>
            </p:cNvPr>
            <p:cNvSpPr/>
            <p:nvPr/>
          </p:nvSpPr>
          <p:spPr>
            <a:xfrm>
              <a:off x="142876" y="3857628"/>
              <a:ext cx="3357554" cy="2786082"/>
            </a:xfrm>
            <a:prstGeom prst="rec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 descr="Boryeong.jpg">
              <a:extLst>
                <a:ext uri="{FF2B5EF4-FFF2-40B4-BE49-F238E27FC236}">
                  <a16:creationId xmlns:a16="http://schemas.microsoft.com/office/drawing/2014/main" id="{49400420-F15D-44F5-A483-4F5EACCEED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4116" y="4104000"/>
              <a:ext cx="2952000" cy="234000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3E7DA66-A406-49DC-A710-EF94DC5A4609}"/>
              </a:ext>
            </a:extLst>
          </p:cNvPr>
          <p:cNvSpPr txBox="1"/>
          <p:nvPr/>
        </p:nvSpPr>
        <p:spPr>
          <a:xfrm>
            <a:off x="1223938" y="3071810"/>
            <a:ext cx="6715125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lvl="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kumimoji="0" lang="en-US" altLang="ko-KR" sz="4000" b="1" dirty="0">
                <a:solidFill>
                  <a:srgbClr val="FFC000"/>
                </a:solidFill>
                <a:latin typeface="HY헤드라인M" pitchFamily="18" charset="-127"/>
                <a:ea typeface="HY헤드라인M" pitchFamily="18" charset="-127"/>
              </a:rPr>
              <a:t>Thanks Your Attention !!</a:t>
            </a:r>
            <a:endParaRPr kumimoji="0" lang="ko-KR" altLang="en-US" sz="4000" b="1" dirty="0">
              <a:solidFill>
                <a:srgbClr val="FFC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68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기본 디자인">
  <a:themeElements>
    <a:clrScheme name="기본 디자인 4">
      <a:dk1>
        <a:srgbClr val="000000"/>
      </a:dk1>
      <a:lt1>
        <a:srgbClr val="DEF6F1"/>
      </a:lt1>
      <a:dk2>
        <a:srgbClr val="000000"/>
      </a:dk2>
      <a:lt2>
        <a:srgbClr val="969696"/>
      </a:lt2>
      <a:accent1>
        <a:srgbClr val="FFFFFF"/>
      </a:accent1>
      <a:accent2>
        <a:srgbClr val="8DC6FF"/>
      </a:accent2>
      <a:accent3>
        <a:srgbClr val="ECFAF7"/>
      </a:accent3>
      <a:accent4>
        <a:srgbClr val="000000"/>
      </a:accent4>
      <a:accent5>
        <a:srgbClr val="FFFFFF"/>
      </a:accent5>
      <a:accent6>
        <a:srgbClr val="7FB3E7"/>
      </a:accent6>
      <a:hlink>
        <a:srgbClr val="0066CC"/>
      </a:hlink>
      <a:folHlink>
        <a:srgbClr val="00A800"/>
      </a:folHlink>
    </a:clrScheme>
    <a:fontScheme name="기본 디자인">
      <a:majorFont>
        <a:latin typeface="HY울릉도M"/>
        <a:ea typeface="HY울릉도M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5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6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7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8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9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0.xml><?xml version="1.0" encoding="utf-8"?>
<a:themeOverride xmlns:a="http://schemas.openxmlformats.org/drawingml/2006/main">
  <a:clrScheme name="기본 디자인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39519</TotalTime>
  <Words>1306</Words>
  <Application>Microsoft Office PowerPoint</Application>
  <PresentationFormat>화면 슬라이드 쇼(4:3)</PresentationFormat>
  <Paragraphs>234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35" baseType="lpstr">
      <vt:lpstr>HY견고딕</vt:lpstr>
      <vt:lpstr>HY울릉도M</vt:lpstr>
      <vt:lpstr>HY헤드라인M</vt:lpstr>
      <vt:lpstr>se-nanumgothic</vt:lpstr>
      <vt:lpstr>굴림</vt:lpstr>
      <vt:lpstr>굴림체</vt:lpstr>
      <vt:lpstr>Dotum</vt:lpstr>
      <vt:lpstr>맑은 고딕</vt:lpstr>
      <vt:lpstr>바탕</vt:lpstr>
      <vt:lpstr>함초롬바탕</vt:lpstr>
      <vt:lpstr>휴먼둥근헤드라인</vt:lpstr>
      <vt:lpstr>휴먼모음T</vt:lpstr>
      <vt:lpstr>Abadi</vt:lpstr>
      <vt:lpstr>Abadi Extra Light</vt:lpstr>
      <vt:lpstr>Arial</vt:lpstr>
      <vt:lpstr>Bauhaus 93</vt:lpstr>
      <vt:lpstr>Century Gothic</vt:lpstr>
      <vt:lpstr>Georgia</vt:lpstr>
      <vt:lpstr>Symbol</vt:lpstr>
      <vt:lpstr>Times New Roman</vt:lpstr>
      <vt:lpstr>Wingdings</vt:lpstr>
      <vt:lpstr>Wingdings 3</vt:lpstr>
      <vt:lpstr>이온(회의실)</vt:lpstr>
      <vt:lpstr>기본 디자인</vt:lpstr>
      <vt:lpstr>PowerPoint 프레젠테이션</vt:lpstr>
      <vt:lpstr>1. 회사 소개 [회사개요] 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NEX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Digital NEX</dc:creator>
  <cp:lastModifiedBy>user</cp:lastModifiedBy>
  <cp:revision>1570</cp:revision>
  <cp:lastPrinted>2025-09-04T01:33:09Z</cp:lastPrinted>
  <dcterms:created xsi:type="dcterms:W3CDTF">2009-12-19T03:20:39Z</dcterms:created>
  <dcterms:modified xsi:type="dcterms:W3CDTF">2025-12-23T05:42:32Z</dcterms:modified>
</cp:coreProperties>
</file>